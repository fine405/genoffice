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848ad508904a85" /><Relationship Type="http://schemas.openxmlformats.org/officeDocument/2006/relationships/extended-properties" Target="/docProps/app.xml" Id="Rf6cc0cbf85824755" /><Relationship Type="http://schemas.openxmlformats.org/officeDocument/2006/relationships/officeDocument" Target="/ppt/presentation.xml" Id="Rd52f9855f2d7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4ed61ea4945c4"/>
  </p:sldMasterIdLst>
  <p:notesMasterIdLst>
    <p:notesMasterId xmlns:r="http://schemas.openxmlformats.org/officeDocument/2006/relationships" r:id="Rc421211dee23447d"/>
  </p:notesMasterIdLst>
  <p:sldIdLst>
    <p:sldId xmlns:r="http://schemas.openxmlformats.org/officeDocument/2006/relationships" id="256" r:id="Rf0d827ca427943c2"/>
    <p:sldId xmlns:r="http://schemas.openxmlformats.org/officeDocument/2006/relationships" id="257" r:id="R3b2932856bcc4730"/>
    <p:sldId xmlns:r="http://schemas.openxmlformats.org/officeDocument/2006/relationships" id="258" r:id="R61179fedb61f478f"/>
    <p:sldId xmlns:r="http://schemas.openxmlformats.org/officeDocument/2006/relationships" id="259" r:id="Rcc9f9a885ab64be2"/>
    <p:sldId xmlns:r="http://schemas.openxmlformats.org/officeDocument/2006/relationships" id="260" r:id="Rc9270ba232274fca"/>
    <p:sldId xmlns:r="http://schemas.openxmlformats.org/officeDocument/2006/relationships" id="261" r:id="Re6ae6e4836264c05"/>
    <p:sldId xmlns:r="http://schemas.openxmlformats.org/officeDocument/2006/relationships" id="262" r:id="Rf9292195db294ce5"/>
    <p:sldId xmlns:r="http://schemas.openxmlformats.org/officeDocument/2006/relationships" id="263" r:id="R7b897e34050b487f"/>
    <p:sldId xmlns:r="http://schemas.openxmlformats.org/officeDocument/2006/relationships" id="264" r:id="Ree1b5fc987fe4510"/>
    <p:sldId xmlns:r="http://schemas.openxmlformats.org/officeDocument/2006/relationships" id="265" r:id="R61b6c85c66e94184"/>
    <p:sldId xmlns:r="http://schemas.openxmlformats.org/officeDocument/2006/relationships" id="266" r:id="Rcca30032fa154594"/>
    <p:sldId xmlns:r="http://schemas.openxmlformats.org/officeDocument/2006/relationships" id="267" r:id="R2caaf854e9c14351"/>
    <p:sldId xmlns:r="http://schemas.openxmlformats.org/officeDocument/2006/relationships" id="268" r:id="R3180c0b6189c46ed"/>
    <p:sldId xmlns:r="http://schemas.openxmlformats.org/officeDocument/2006/relationships" id="269" r:id="R14bc1cd38bd74b33"/>
    <p:sldId xmlns:r="http://schemas.openxmlformats.org/officeDocument/2006/relationships" id="270" r:id="R77ca2af605cf4cb5"/>
    <p:sldId xmlns:r="http://schemas.openxmlformats.org/officeDocument/2006/relationships" id="271" r:id="R54a9321315084f6c"/>
    <p:sldId xmlns:r="http://schemas.openxmlformats.org/officeDocument/2006/relationships" id="272" r:id="R59f1058945f64625"/>
    <p:sldId xmlns:r="http://schemas.openxmlformats.org/officeDocument/2006/relationships" id="273" r:id="Rc8f0e8cfad1e4582"/>
    <p:sldId xmlns:r="http://schemas.openxmlformats.org/officeDocument/2006/relationships" id="274" r:id="R554c8e4384f14f25"/>
    <p:sldId xmlns:r="http://schemas.openxmlformats.org/officeDocument/2006/relationships" id="275" r:id="R4bee9bb358a0403e"/>
    <p:sldId xmlns:r="http://schemas.openxmlformats.org/officeDocument/2006/relationships" id="276" r:id="Ra44d89ff92ab4c87"/>
    <p:sldId xmlns:r="http://schemas.openxmlformats.org/officeDocument/2006/relationships" id="277" r:id="R692fdea70a49472b"/>
    <p:sldId xmlns:r="http://schemas.openxmlformats.org/officeDocument/2006/relationships" id="278" r:id="Rabd34942afe448aa"/>
    <p:sldId xmlns:r="http://schemas.openxmlformats.org/officeDocument/2006/relationships" id="279" r:id="Rb025ea8e383c4e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b6816de994ea7" /><Relationship Type="http://schemas.openxmlformats.org/officeDocument/2006/relationships/slideMaster" Target="/ppt/slideMasters/slideMaster1.xml" Id="Raea4ed61ea4945c4" /><Relationship Type="http://schemas.openxmlformats.org/officeDocument/2006/relationships/notesMaster" Target="/ppt/notesMasters/notesMaster1.xml" Id="Rc421211dee23447d" /><Relationship Type="http://schemas.openxmlformats.org/officeDocument/2006/relationships/presProps" Target="/ppt/presProps.xml" Id="Raeff6491fb5a4b1a" /><Relationship Type="http://schemas.openxmlformats.org/officeDocument/2006/relationships/tableStyles" Target="/ppt/tableStyles.xml" Id="Rb999293caafe403a" /><Relationship Type="http://schemas.openxmlformats.org/officeDocument/2006/relationships/slide" Target="/ppt/slides/slide1.xml" Id="Rf0d827ca427943c2" /><Relationship Type="http://schemas.openxmlformats.org/officeDocument/2006/relationships/slide" Target="/ppt/slides/slide2.xml" Id="R3b2932856bcc4730" /><Relationship Type="http://schemas.openxmlformats.org/officeDocument/2006/relationships/slide" Target="/ppt/slides/slide3.xml" Id="R61179fedb61f478f" /><Relationship Type="http://schemas.openxmlformats.org/officeDocument/2006/relationships/slide" Target="/ppt/slides/slide4.xml" Id="Rcc9f9a885ab64be2" /><Relationship Type="http://schemas.openxmlformats.org/officeDocument/2006/relationships/slide" Target="/ppt/slides/slide5.xml" Id="Rc9270ba232274fca" /><Relationship Type="http://schemas.openxmlformats.org/officeDocument/2006/relationships/slide" Target="/ppt/slides/slide6.xml" Id="Re6ae6e4836264c05" /><Relationship Type="http://schemas.openxmlformats.org/officeDocument/2006/relationships/slide" Target="/ppt/slides/slide7.xml" Id="Rf9292195db294ce5" /><Relationship Type="http://schemas.openxmlformats.org/officeDocument/2006/relationships/slide" Target="/ppt/slides/slide8.xml" Id="R7b897e34050b487f" /><Relationship Type="http://schemas.openxmlformats.org/officeDocument/2006/relationships/slide" Target="/ppt/slides/slide9.xml" Id="Ree1b5fc987fe4510" /><Relationship Type="http://schemas.openxmlformats.org/officeDocument/2006/relationships/slide" Target="/ppt/slides/slide10.xml" Id="R61b6c85c66e94184" /><Relationship Type="http://schemas.openxmlformats.org/officeDocument/2006/relationships/slide" Target="/ppt/slides/slide11.xml" Id="Rcca30032fa154594" /><Relationship Type="http://schemas.openxmlformats.org/officeDocument/2006/relationships/slide" Target="/ppt/slides/slide12.xml" Id="R2caaf854e9c14351" /><Relationship Type="http://schemas.openxmlformats.org/officeDocument/2006/relationships/slide" Target="/ppt/slides/slide13.xml" Id="R3180c0b6189c46ed" /><Relationship Type="http://schemas.openxmlformats.org/officeDocument/2006/relationships/slide" Target="/ppt/slides/slide14.xml" Id="R14bc1cd38bd74b33" /><Relationship Type="http://schemas.openxmlformats.org/officeDocument/2006/relationships/slide" Target="/ppt/slides/slide15.xml" Id="R77ca2af605cf4cb5" /><Relationship Type="http://schemas.openxmlformats.org/officeDocument/2006/relationships/slide" Target="/ppt/slides/slide16.xml" Id="R54a9321315084f6c" /><Relationship Type="http://schemas.openxmlformats.org/officeDocument/2006/relationships/slide" Target="/ppt/slides/slide17.xml" Id="R59f1058945f64625" /><Relationship Type="http://schemas.openxmlformats.org/officeDocument/2006/relationships/slide" Target="/ppt/slides/slide18.xml" Id="Rc8f0e8cfad1e4582" /><Relationship Type="http://schemas.openxmlformats.org/officeDocument/2006/relationships/slide" Target="/ppt/slides/slide19.xml" Id="R554c8e4384f14f25" /><Relationship Type="http://schemas.openxmlformats.org/officeDocument/2006/relationships/slide" Target="/ppt/slides/slide20.xml" Id="R4bee9bb358a0403e" /><Relationship Type="http://schemas.openxmlformats.org/officeDocument/2006/relationships/slide" Target="/ppt/slides/slide21.xml" Id="Ra44d89ff92ab4c87" /><Relationship Type="http://schemas.openxmlformats.org/officeDocument/2006/relationships/slide" Target="/ppt/slides/slide22.xml" Id="R692fdea70a49472b" /><Relationship Type="http://schemas.openxmlformats.org/officeDocument/2006/relationships/slide" Target="/ppt/slides/slide23.xml" Id="Rabd34942afe448aa" /><Relationship Type="http://schemas.openxmlformats.org/officeDocument/2006/relationships/slide" Target="/ppt/slides/slide24.xml" Id="Rb025ea8e383c4e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a8b2410ff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abbd0ba4744e2" /><Relationship Type="http://schemas.openxmlformats.org/officeDocument/2006/relationships/notesMaster" Target="/ppt/notesMasters/notesMaster1.xml" Id="Re8f37d95e08b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2c914f6cc46dd" /><Relationship Type="http://schemas.openxmlformats.org/officeDocument/2006/relationships/notesMaster" Target="/ppt/notesMasters/notesMaster1.xml" Id="Ra923121577d9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49e3557a14e56" /><Relationship Type="http://schemas.openxmlformats.org/officeDocument/2006/relationships/notesMaster" Target="/ppt/notesMasters/notesMaster1.xml" Id="R7159d3f16a034e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4fe2f0a3349db" /><Relationship Type="http://schemas.openxmlformats.org/officeDocument/2006/relationships/notesMaster" Target="/ppt/notesMasters/notesMaster1.xml" Id="Rd2243ad53a2e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cad91709d94bfa" /><Relationship Type="http://schemas.openxmlformats.org/officeDocument/2006/relationships/notesMaster" Target="/ppt/notesMasters/notesMaster1.xml" Id="R3d5095c5ec4d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a4adf1995e4b83" /><Relationship Type="http://schemas.openxmlformats.org/officeDocument/2006/relationships/notesMaster" Target="/ppt/notesMasters/notesMaster1.xml" Id="R3e2dfd184a4a47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09e56441d4649" /><Relationship Type="http://schemas.openxmlformats.org/officeDocument/2006/relationships/notesMaster" Target="/ppt/notesMasters/notesMaster1.xml" Id="Re2eaae5daf69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b8c45839334ff3" /><Relationship Type="http://schemas.openxmlformats.org/officeDocument/2006/relationships/notesMaster" Target="/ppt/notesMasters/notesMaster1.xml" Id="R48032147350749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401c665fa346f9" /><Relationship Type="http://schemas.openxmlformats.org/officeDocument/2006/relationships/notesMaster" Target="/ppt/notesMasters/notesMaster1.xml" Id="R8abf245c623c41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c4a3afd5ec4159" /><Relationship Type="http://schemas.openxmlformats.org/officeDocument/2006/relationships/notesMaster" Target="/ppt/notesMasters/notesMaster1.xml" Id="Rd1939aaafed743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913e8e59094dec" /><Relationship Type="http://schemas.openxmlformats.org/officeDocument/2006/relationships/notesMaster" Target="/ppt/notesMasters/notesMaster1.xml" Id="R58e740a9184449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7677b021b1449a" /><Relationship Type="http://schemas.openxmlformats.org/officeDocument/2006/relationships/notesMaster" Target="/ppt/notesMasters/notesMaster1.xml" Id="Rc6292136c0a748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1ba5773e9f4245" /><Relationship Type="http://schemas.openxmlformats.org/officeDocument/2006/relationships/notesMaster" Target="/ppt/notesMasters/notesMaster1.xml" Id="R3618937f459040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89558a2ffa4a0f" /><Relationship Type="http://schemas.openxmlformats.org/officeDocument/2006/relationships/notesMaster" Target="/ppt/notesMasters/notesMaster1.xml" Id="Rffb85f66693c49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4e1718541b4501" /><Relationship Type="http://schemas.openxmlformats.org/officeDocument/2006/relationships/notesMaster" Target="/ppt/notesMasters/notesMaster1.xml" Id="R328a3b4921c648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d3577c42e416f" /><Relationship Type="http://schemas.openxmlformats.org/officeDocument/2006/relationships/notesMaster" Target="/ppt/notesMasters/notesMaster1.xml" Id="Rc5f60e4e902840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e88fde8778494e" /><Relationship Type="http://schemas.openxmlformats.org/officeDocument/2006/relationships/notesMaster" Target="/ppt/notesMasters/notesMaster1.xml" Id="Re10ba46016a546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21b65b4ffb4c47" /><Relationship Type="http://schemas.openxmlformats.org/officeDocument/2006/relationships/notesMaster" Target="/ppt/notesMasters/notesMaster1.xml" Id="Rc66404a352cc44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cfbb3442f04921" /><Relationship Type="http://schemas.openxmlformats.org/officeDocument/2006/relationships/notesMaster" Target="/ppt/notesMasters/notesMaster1.xml" Id="R66d4a20ba2a249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56634fc15246ec" /><Relationship Type="http://schemas.openxmlformats.org/officeDocument/2006/relationships/notesMaster" Target="/ppt/notesMasters/notesMaster1.xml" Id="Rbc1c894f3c684f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5ab4b93f804ef5" /><Relationship Type="http://schemas.openxmlformats.org/officeDocument/2006/relationships/notesMaster" Target="/ppt/notesMasters/notesMaster1.xml" Id="R3de2043eb42e45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33bba876e44c2f" /><Relationship Type="http://schemas.openxmlformats.org/officeDocument/2006/relationships/notesMaster" Target="/ppt/notesMasters/notesMaster1.xml" Id="Rd89fc529a1084a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7580c9b217446e" /><Relationship Type="http://schemas.openxmlformats.org/officeDocument/2006/relationships/notesMaster" Target="/ppt/notesMasters/notesMaster1.xml" Id="Rb6955f0ffced44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8208e2497a42b9" /><Relationship Type="http://schemas.openxmlformats.org/officeDocument/2006/relationships/notesMaster" Target="/ppt/notesMasters/notesMaster1.xml" Id="Ra39aaa89bec74cfe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北辰协作是一款面向中小团队的文档工作台。今天介绍产品能力和面向团队的发布提案。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日常文档协作的主要问题是版本散落和反馈脱节。成员花时间确认哪个附件才是最新版。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目标客户是二十到二百人的项目团队，尤其是产品研发和咨询交付团队。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销售提案场景把客户背景、售前说明和内部评审放在同一个工作区，方便形成可交付方案。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协同编辑支持多人修改共享文档。批注与内容绑定，版本历史帮助团队恢复已确认的内容。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智能助手帮助整理文档摘要和改写表达，重要结论仍由作者核对原始材料。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权限管理区分编辑者、评论者和查看者。外部客户分享链接设有有效期，管理员可以撤销访问。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产品规划按未来两个季度安排：先完成核心协作和移动端首版，再开放合作伙伴接口并推进企业部署。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移动端服务出差和通勤场景。手机可查看提案与完成审批，离线时记录批注，恢复连接后同步。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开放接口提供 CRM 集成和 Webhook 事件通知。业务系统可以自动创建工作区并接收审批状态。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企业部署提供专属租户和自有域名，并通过单点登录接入组织账号。这里关注部署和身份接入。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定价策略分基础版和专业版。示例月费分别为每人二十九元和五十九元，企业版单独报价。基础版面向日常协作，专业版增加高级审批和管理能力。价格为虚构演示方案。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成本控制从团队用量上限和结果复用入手，避免同一材料重复生成摘要造成额外开销。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试点成效使用虚构数据说明评估方式：提案整理时间从一百二十分钟降到四十五分钟。数据仅用于演示，不代表真实客户结果。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青禾设计是虚构客户，六十名员工分布在三个办公室。跨城提案通过统一批注和交付链接减少附件往返。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数据安全关注文档传输和存储加密、备份隔离以及审计日志，帮助管理员追溯下载和分享行为。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性能与容量是规划目标：常规文档首次打开在两秒内，单份文档支持五十人同时协作。这些是虚构方案中的验收目标，不是已完成测试结果。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上线计划以四周为一个周期。前两周选择试点团队并导入材料，后两周收集反馈和验收，再扩大开放范围。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培训与支持首先面向团队管理员。培训包括成员管理、分享规则和模板维护，日常问题通过工单反馈。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数据迁移先盘点共享盘、清理重复副本，再分批导入旧资料，核对文件数量和目录及访问权限。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主要风险是复杂旧文件的格式兼容，以及成员继续通过附件协作的习惯。先测样本，并由项目负责人带头使用统一链接。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商业目标是虚构计划：首季度邀请三十个团队试用，争取十个团队付费，重点验证付费意愿。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团队分工明确产品、工程和客户成功的责任。产品确认范围，工程负责交付，客户成功负责培训与验收。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试用邀请建议团队选择一份正在协作的真实提案。先使用两周，再根据实际体验决定是否扩大使用。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250cf1db149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fa2ef542f4368" /><Relationship Type="http://schemas.openxmlformats.org/officeDocument/2006/relationships/slideLayout" Target="/ppt/slideLayouts/slideLayout1.xml" Id="R94b7c83a54f3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7c83a54f3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c0530ac674b8f" /><Relationship Type="http://schemas.openxmlformats.org/officeDocument/2006/relationships/notesSlide" Target="/ppt/notesSlides/notesSlide1.xml" Id="Rb2ec330a0e56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0d7cd51764ed1" /><Relationship Type="http://schemas.openxmlformats.org/officeDocument/2006/relationships/notesSlide" Target="/ppt/notesSlides/notesSlide2.xml" Id="Rc74e843fc1d0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cff08adf1426a" /><Relationship Type="http://schemas.openxmlformats.org/officeDocument/2006/relationships/notesSlide" Target="/ppt/notesSlides/notesSlide3.xml" Id="R534dca6ec70441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92cd390a94db3" /><Relationship Type="http://schemas.openxmlformats.org/officeDocument/2006/relationships/notesSlide" Target="/ppt/notesSlides/notesSlide4.xml" Id="R62b8685afd9a4d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090c5b0db43c6" /><Relationship Type="http://schemas.openxmlformats.org/officeDocument/2006/relationships/notesSlide" Target="/ppt/notesSlides/notesSlide5.xml" Id="R5d8b3c3489aa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12c32f7440cf" /><Relationship Type="http://schemas.openxmlformats.org/officeDocument/2006/relationships/notesSlide" Target="/ppt/notesSlides/notesSlide6.xml" Id="R41b8fc031e5f4f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38ee52314352" /><Relationship Type="http://schemas.openxmlformats.org/officeDocument/2006/relationships/notesSlide" Target="/ppt/notesSlides/notesSlide7.xml" Id="R8863b1ef23994a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07e5edb314e24" /><Relationship Type="http://schemas.openxmlformats.org/officeDocument/2006/relationships/notesSlide" Target="/ppt/notesSlides/notesSlide8.xml" Id="R0d5adbf4c5124c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f2bb00f994377" /><Relationship Type="http://schemas.openxmlformats.org/officeDocument/2006/relationships/notesSlide" Target="/ppt/notesSlides/notesSlide9.xml" Id="R0201bf96c1484d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64e5411b34a06" /><Relationship Type="http://schemas.openxmlformats.org/officeDocument/2006/relationships/notesSlide" Target="/ppt/notesSlides/notesSlide10.xml" Id="R2f1bee6e3af143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3fb97249a45f5" /><Relationship Type="http://schemas.openxmlformats.org/officeDocument/2006/relationships/notesSlide" Target="/ppt/notesSlides/notesSlide11.xml" Id="R443776b9446146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8d82208bd4b96" /><Relationship Type="http://schemas.openxmlformats.org/officeDocument/2006/relationships/notesSlide" Target="/ppt/notesSlides/notesSlide12.xml" Id="Ra88f55962e354b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abb7eba19482a" /><Relationship Type="http://schemas.openxmlformats.org/officeDocument/2006/relationships/notesSlide" Target="/ppt/notesSlides/notesSlide13.xml" Id="Rd86807d87ed54e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c2870edea4f98" /><Relationship Type="http://schemas.openxmlformats.org/officeDocument/2006/relationships/chart" Target="/ppt/slides/charts/chart1.xml" Id="Rd2175e646b484f68" /><Relationship Type="http://schemas.openxmlformats.org/officeDocument/2006/relationships/notesSlide" Target="/ppt/notesSlides/notesSlide14.xml" Id="R485449eb765947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8d18ccb314b3a" /><Relationship Type="http://schemas.openxmlformats.org/officeDocument/2006/relationships/notesSlide" Target="/ppt/notesSlides/notesSlide15.xml" Id="R1138274a04d84a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829063af4bcf" /><Relationship Type="http://schemas.openxmlformats.org/officeDocument/2006/relationships/notesSlide" Target="/ppt/notesSlides/notesSlide16.xml" Id="Ra0480396b9ed47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17f0368394429" /><Relationship Type="http://schemas.openxmlformats.org/officeDocument/2006/relationships/notesSlide" Target="/ppt/notesSlides/notesSlide17.xml" Id="Rd217d4e366a846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e8abc64794754" /><Relationship Type="http://schemas.openxmlformats.org/officeDocument/2006/relationships/notesSlide" Target="/ppt/notesSlides/notesSlide18.xml" Id="R3f12047e6ec147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7ff05876449e" /><Relationship Type="http://schemas.openxmlformats.org/officeDocument/2006/relationships/notesSlide" Target="/ppt/notesSlides/notesSlide19.xml" Id="R922d1c36492449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582c162db4ac9" /><Relationship Type="http://schemas.openxmlformats.org/officeDocument/2006/relationships/notesSlide" Target="/ppt/notesSlides/notesSlide20.xml" Id="R29f6817a6cb441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1e9fefa6341f0" /><Relationship Type="http://schemas.openxmlformats.org/officeDocument/2006/relationships/notesSlide" Target="/ppt/notesSlides/notesSlide21.xml" Id="Rf67c6c98f4ed4b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adac254a24546" /><Relationship Type="http://schemas.openxmlformats.org/officeDocument/2006/relationships/notesSlide" Target="/ppt/notesSlides/notesSlide22.xml" Id="Rbbf20c3e170d43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e47afa1e49e1" /><Relationship Type="http://schemas.openxmlformats.org/officeDocument/2006/relationships/notesSlide" Target="/ppt/notesSlides/notesSlide23.xml" Id="R0f029a4434e14a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04ebcfede40a8" /><Relationship Type="http://schemas.openxmlformats.org/officeDocument/2006/relationships/notesSlide" Target="/ppt/notesSlides/notesSlide24.xml" Id="R4149b5484d5346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每份提案整理时间（分钟）</c:v>
          </c:tx>
          <c:spPr>
            <a:solidFill xmlns:a="http://schemas.openxmlformats.org/drawingml/2006/main">
              <a:srgbClr val="B65332"/>
            </a:solidFill>
          </c:spPr>
          <c:cat>
            <c:strRef>
              <c:f>'Chart Data'!$A$2:$A$3</c:f>
              <c:strCache>
                <c:ptCount val="2"/>
                <c:pt idx="0">
                  <c:v>原流程</c:v>
                </c:pt>
                <c:pt idx="1">
                  <c:v>试点流程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120</c:v>
                </c:pt>
                <c:pt idx="1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5F3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北辰协作">
            <a:extLst xmlns:a="http://schemas.openxmlformats.org/drawingml/2006/main">
              <a:ext uri="{FF2B5EF4-FFF2-40B4-BE49-F238E27FC236}">
                <a16:creationId xmlns:a16="http://schemas.microsoft.com/office/drawing/2014/main" id="{B8CA0152-C095-4C10-AF08-A7FAF5E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北辰协作</a:t>
            </a:r>
          </a:p>
        </p:txBody>
      </p:sp>
      <p:sp>
        <p:nvSpPr>
          <p:cNvPr id="2" name="团队文档工作台">
            <a:extLst xmlns:a="http://schemas.openxmlformats.org/drawingml/2006/main">
              <a:ext uri="{FF2B5EF4-FFF2-40B4-BE49-F238E27FC236}">
                <a16:creationId xmlns:a16="http://schemas.microsoft.com/office/drawing/2014/main" id="{1458F012-5346-4AE3-919A-6E60DDB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rPr>
              <a:t>团队文档工作台</a:t>
            </a:r>
          </a:p>
        </p:txBody>
      </p:sp>
      <p:sp>
        <p:nvSpPr>
          <p:cNvPr id="3" name="产品发布提案&#10;虚构产品与示例数据">
            <a:extLst xmlns:a="http://schemas.openxmlformats.org/drawingml/2006/main">
              <a:ext uri="{FF2B5EF4-FFF2-40B4-BE49-F238E27FC236}">
                <a16:creationId xmlns:a16="http://schemas.microsoft.com/office/drawing/2014/main" id="{B2136D1F-C1E0-4C0A-A1C0-2993B788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产品发布提案</a:t>
            </a:r>
          </a:p>
          <a:p xmlns:a="http://schemas.openxmlformats.org/drawingml/2006/main">
            <a:pPr>
              <a:defRPr sz="19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虚构产品与示例数据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84F750A-6309-43DF-8E6D-EDF6E40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8598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协作痛点">
            <a:extLst xmlns:a="http://schemas.openxmlformats.org/drawingml/2006/main">
              <a:ext uri="{FF2B5EF4-FFF2-40B4-BE49-F238E27FC236}">
                <a16:creationId xmlns:a16="http://schemas.microsoft.com/office/drawing/2014/main" id="{DC3BE014-DC64-4734-BEE5-81219EE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协作痛点</a:t>
            </a:r>
          </a:p>
        </p:txBody>
      </p:sp>
      <p:sp>
        <p:nvSpPr>
          <p:cNvPr id="2" name="同一份文件，反复确认版本">
            <a:extLst xmlns:a="http://schemas.openxmlformats.org/drawingml/2006/main">
              <a:ext uri="{FF2B5EF4-FFF2-40B4-BE49-F238E27FC236}">
                <a16:creationId xmlns:a16="http://schemas.microsoft.com/office/drawing/2014/main" id="{30468A18-D0FA-47FA-BA66-F88E120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同一份文件，反复确认版本</a:t>
            </a:r>
          </a:p>
        </p:txBody>
      </p:sp>
      <p:sp>
        <p:nvSpPr>
          <p:cNvPr id="3" name="版本散落">
            <a:extLst xmlns:a="http://schemas.openxmlformats.org/drawingml/2006/main">
              <a:ext uri="{FF2B5EF4-FFF2-40B4-BE49-F238E27FC236}">
                <a16:creationId xmlns:a16="http://schemas.microsoft.com/office/drawing/2014/main" id="{8E7874C2-EA3F-4AC3-925F-43BC7D8B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版本散落</a:t>
            </a:r>
          </a:p>
        </p:txBody>
      </p:sp>
      <p:sp>
        <p:nvSpPr>
          <p:cNvPr id="4" name="聊天记录里有多个附件，最后修改者难以确认。">
            <a:extLst xmlns:a="http://schemas.openxmlformats.org/drawingml/2006/main">
              <a:ext uri="{FF2B5EF4-FFF2-40B4-BE49-F238E27FC236}">
                <a16:creationId xmlns:a16="http://schemas.microsoft.com/office/drawing/2014/main" id="{93E645D5-BAEB-4A8F-9DD8-05F780E1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聊天记录里有多个附件，最后修改者难以确认。</a:t>
            </a:r>
          </a:p>
        </p:txBody>
      </p:sp>
      <p:sp>
        <p:nvSpPr>
          <p:cNvPr id="5" name="反馈脱节">
            <a:extLst xmlns:a="http://schemas.openxmlformats.org/drawingml/2006/main">
              <a:ext uri="{FF2B5EF4-FFF2-40B4-BE49-F238E27FC236}">
                <a16:creationId xmlns:a16="http://schemas.microsoft.com/office/drawing/2014/main" id="{C049E951-604E-4B95-8FAA-1B338BB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反馈脱节</a:t>
            </a:r>
          </a:p>
        </p:txBody>
      </p:sp>
      <p:sp>
        <p:nvSpPr>
          <p:cNvPr id="6" name="批注、修改和确认分布在不同工具中。">
            <a:extLst xmlns:a="http://schemas.openxmlformats.org/drawingml/2006/main">
              <a:ext uri="{FF2B5EF4-FFF2-40B4-BE49-F238E27FC236}">
                <a16:creationId xmlns:a16="http://schemas.microsoft.com/office/drawing/2014/main" id="{990143D9-42E3-451A-BB65-32D70CB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批注、修改和确认分布在不同工具中。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26C9A61-D3D4-4DB1-91D9-3CADF4A9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2955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标客户">
            <a:extLst xmlns:a="http://schemas.openxmlformats.org/drawingml/2006/main">
              <a:ext uri="{FF2B5EF4-FFF2-40B4-BE49-F238E27FC236}">
                <a16:creationId xmlns:a16="http://schemas.microsoft.com/office/drawing/2014/main" id="{FC19B50B-A2F4-490D-AF0B-25760DA8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目标客户</a:t>
            </a:r>
          </a:p>
        </p:txBody>
      </p:sp>
      <p:sp>
        <p:nvSpPr>
          <p:cNvPr id="2" name="先服务 20–200 人的项目团队">
            <a:extLst xmlns:a="http://schemas.openxmlformats.org/drawingml/2006/main">
              <a:ext uri="{FF2B5EF4-FFF2-40B4-BE49-F238E27FC236}">
                <a16:creationId xmlns:a16="http://schemas.microsoft.com/office/drawing/2014/main" id="{6CADC558-496F-45FD-8FBB-C5FEA8F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先服务 20–200 人的项目团队</a:t>
            </a:r>
          </a:p>
        </p:txBody>
      </p:sp>
      <p:sp>
        <p:nvSpPr>
          <p:cNvPr id="3" name="产品研发团队">
            <a:extLst xmlns:a="http://schemas.openxmlformats.org/drawingml/2006/main">
              <a:ext uri="{FF2B5EF4-FFF2-40B4-BE49-F238E27FC236}">
                <a16:creationId xmlns:a16="http://schemas.microsoft.com/office/drawing/2014/main" id="{1D00E4FD-11AD-4C61-9120-3D321D5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产品研发团队</a:t>
            </a:r>
          </a:p>
        </p:txBody>
      </p:sp>
      <p:sp>
        <p:nvSpPr>
          <p:cNvPr id="4" name="需求评审频繁，需要追踪讨论后的修改。">
            <a:extLst xmlns:a="http://schemas.openxmlformats.org/drawingml/2006/main">
              <a:ext uri="{FF2B5EF4-FFF2-40B4-BE49-F238E27FC236}">
                <a16:creationId xmlns:a16="http://schemas.microsoft.com/office/drawing/2014/main" id="{D64CA403-090F-4CA6-A097-2A3AFEED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需求评审频繁，需要追踪讨论后的修改。</a:t>
            </a:r>
          </a:p>
        </p:txBody>
      </p:sp>
      <p:sp>
        <p:nvSpPr>
          <p:cNvPr id="5" name="咨询与交付团队">
            <a:extLst xmlns:a="http://schemas.openxmlformats.org/drawingml/2006/main">
              <a:ext uri="{FF2B5EF4-FFF2-40B4-BE49-F238E27FC236}">
                <a16:creationId xmlns:a16="http://schemas.microsoft.com/office/drawing/2014/main" id="{C2CEBA37-6A86-42DA-92D6-5A8F4F7F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咨询与交付团队</a:t>
            </a:r>
          </a:p>
        </p:txBody>
      </p:sp>
      <p:sp>
        <p:nvSpPr>
          <p:cNvPr id="6" name="客户方案多人参与，需要统一最终交付。">
            <a:extLst xmlns:a="http://schemas.openxmlformats.org/drawingml/2006/main">
              <a:ext uri="{FF2B5EF4-FFF2-40B4-BE49-F238E27FC236}">
                <a16:creationId xmlns:a16="http://schemas.microsoft.com/office/drawing/2014/main" id="{62D53DC3-D281-45BD-A037-44295F60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客户方案多人参与，需要统一最终交付。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891A6D19-CCFA-42A1-AA13-09937D04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3373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销售提案">
            <a:extLst xmlns:a="http://schemas.openxmlformats.org/drawingml/2006/main">
              <a:ext uri="{FF2B5EF4-FFF2-40B4-BE49-F238E27FC236}">
                <a16:creationId xmlns:a16="http://schemas.microsoft.com/office/drawing/2014/main" id="{74B4C858-3C59-4603-A3A1-E20C7EA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销售提案</a:t>
            </a:r>
          </a:p>
        </p:txBody>
      </p:sp>
      <p:sp>
        <p:nvSpPr>
          <p:cNvPr id="2" name="客户方案在一个工作区完成">
            <a:extLst xmlns:a="http://schemas.openxmlformats.org/drawingml/2006/main">
              <a:ext uri="{FF2B5EF4-FFF2-40B4-BE49-F238E27FC236}">
                <a16:creationId xmlns:a16="http://schemas.microsoft.com/office/drawing/2014/main" id="{B6700740-4ADD-4B80-9B31-E35A495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客户方案在一个工作区完成</a:t>
            </a:r>
          </a:p>
        </p:txBody>
      </p:sp>
      <p:sp>
        <p:nvSpPr>
          <p:cNvPr id="3" name="准备方案">
            <a:extLst xmlns:a="http://schemas.openxmlformats.org/drawingml/2006/main">
              <a:ext uri="{FF2B5EF4-FFF2-40B4-BE49-F238E27FC236}">
                <a16:creationId xmlns:a16="http://schemas.microsoft.com/office/drawing/2014/main" id="{88FB8BBD-9BEF-46FA-A20B-F919FF55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准备方案</a:t>
            </a:r>
          </a:p>
        </p:txBody>
      </p:sp>
      <p:sp>
        <p:nvSpPr>
          <p:cNvPr id="4" name="销售收集客户背景，使用团队模板建立提案。">
            <a:extLst xmlns:a="http://schemas.openxmlformats.org/drawingml/2006/main">
              <a:ext uri="{FF2B5EF4-FFF2-40B4-BE49-F238E27FC236}">
                <a16:creationId xmlns:a16="http://schemas.microsoft.com/office/drawing/2014/main" id="{893FF6E5-ACBD-4D87-921F-3D4F9891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销售收集客户背景，使用团队模板建立提案。</a:t>
            </a:r>
          </a:p>
        </p:txBody>
      </p:sp>
      <p:sp>
        <p:nvSpPr>
          <p:cNvPr id="5" name="内部评审">
            <a:extLst xmlns:a="http://schemas.openxmlformats.org/drawingml/2006/main">
              <a:ext uri="{FF2B5EF4-FFF2-40B4-BE49-F238E27FC236}">
                <a16:creationId xmlns:a16="http://schemas.microsoft.com/office/drawing/2014/main" id="{570FA37C-3C87-4B63-B0C1-57543C1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内部评审</a:t>
            </a:r>
          </a:p>
        </p:txBody>
      </p:sp>
      <p:sp>
        <p:nvSpPr>
          <p:cNvPr id="6" name="售前补充技术说明，负责人确认后统一导出。">
            <a:extLst xmlns:a="http://schemas.openxmlformats.org/drawingml/2006/main">
              <a:ext uri="{FF2B5EF4-FFF2-40B4-BE49-F238E27FC236}">
                <a16:creationId xmlns:a16="http://schemas.microsoft.com/office/drawing/2014/main" id="{8E830A5C-02F6-431E-ACD8-748267B6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售前补充技术说明，负责人确认后统一导出。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00C5DDDA-C97C-4377-B7DD-455B6D4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4192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协同编辑">
            <a:extLst xmlns:a="http://schemas.openxmlformats.org/drawingml/2006/main">
              <a:ext uri="{FF2B5EF4-FFF2-40B4-BE49-F238E27FC236}">
                <a16:creationId xmlns:a16="http://schemas.microsoft.com/office/drawing/2014/main" id="{2B9B71FE-D812-4764-A742-56AFE77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协同编辑</a:t>
            </a:r>
          </a:p>
        </p:txBody>
      </p:sp>
      <p:sp>
        <p:nvSpPr>
          <p:cNvPr id="2" name="多人修改同一份文档">
            <a:extLst xmlns:a="http://schemas.openxmlformats.org/drawingml/2006/main">
              <a:ext uri="{FF2B5EF4-FFF2-40B4-BE49-F238E27FC236}">
                <a16:creationId xmlns:a16="http://schemas.microsoft.com/office/drawing/2014/main" id="{F1381B74-7692-4805-9F63-A2A7989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多人修改同一份文档</a:t>
            </a:r>
          </a:p>
        </p:txBody>
      </p:sp>
      <p:sp>
        <p:nvSpPr>
          <p:cNvPr id="3" name="实时协作">
            <a:extLst xmlns:a="http://schemas.openxmlformats.org/drawingml/2006/main">
              <a:ext uri="{FF2B5EF4-FFF2-40B4-BE49-F238E27FC236}">
                <a16:creationId xmlns:a16="http://schemas.microsoft.com/office/drawing/2014/main" id="{A02CA9F6-AC9B-4CCB-AEB1-A1B24CC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实时协作</a:t>
            </a:r>
          </a:p>
        </p:txBody>
      </p:sp>
      <p:sp>
        <p:nvSpPr>
          <p:cNvPr id="4" name="成员直接编辑共享文档，批注定位到具体内容。">
            <a:extLst xmlns:a="http://schemas.openxmlformats.org/drawingml/2006/main">
              <a:ext uri="{FF2B5EF4-FFF2-40B4-BE49-F238E27FC236}">
                <a16:creationId xmlns:a16="http://schemas.microsoft.com/office/drawing/2014/main" id="{3C439008-72D0-4871-A5CA-A6A1B4C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成员直接编辑共享文档，批注定位到具体内容。</a:t>
            </a:r>
          </a:p>
        </p:txBody>
      </p:sp>
      <p:sp>
        <p:nvSpPr>
          <p:cNvPr id="5" name="版本回溯">
            <a:extLst xmlns:a="http://schemas.openxmlformats.org/drawingml/2006/main">
              <a:ext uri="{FF2B5EF4-FFF2-40B4-BE49-F238E27FC236}">
                <a16:creationId xmlns:a16="http://schemas.microsoft.com/office/drawing/2014/main" id="{8928C8D8-80DF-40EA-9EBB-0226FA0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版本回溯</a:t>
            </a:r>
          </a:p>
        </p:txBody>
      </p:sp>
      <p:sp>
        <p:nvSpPr>
          <p:cNvPr id="6" name="保留修改历史，必要时恢复到已确认版本。">
            <a:extLst xmlns:a="http://schemas.openxmlformats.org/drawingml/2006/main">
              <a:ext uri="{FF2B5EF4-FFF2-40B4-BE49-F238E27FC236}">
                <a16:creationId xmlns:a16="http://schemas.microsoft.com/office/drawing/2014/main" id="{7F8B0087-C958-44C1-91F7-3657E2B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保留修改历史，必要时恢复到已确认版本。</a:t>
            </a: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39346790-92B0-4562-8FAA-966612F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2476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智能助手">
            <a:extLst xmlns:a="http://schemas.openxmlformats.org/drawingml/2006/main">
              <a:ext uri="{FF2B5EF4-FFF2-40B4-BE49-F238E27FC236}">
                <a16:creationId xmlns:a16="http://schemas.microsoft.com/office/drawing/2014/main" id="{A577F53B-3B5C-4F0C-8D55-E203543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智能助手</a:t>
            </a:r>
          </a:p>
        </p:txBody>
      </p:sp>
      <p:sp>
        <p:nvSpPr>
          <p:cNvPr id="2" name="在现有内容上完成整理">
            <a:extLst xmlns:a="http://schemas.openxmlformats.org/drawingml/2006/main">
              <a:ext uri="{FF2B5EF4-FFF2-40B4-BE49-F238E27FC236}">
                <a16:creationId xmlns:a16="http://schemas.microsoft.com/office/drawing/2014/main" id="{173E6E05-B1FF-4175-8B9E-B359692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在现有内容上完成整理</a:t>
            </a:r>
          </a:p>
        </p:txBody>
      </p:sp>
      <p:sp>
        <p:nvSpPr>
          <p:cNvPr id="3" name="文档摘要">
            <a:extLst xmlns:a="http://schemas.openxmlformats.org/drawingml/2006/main">
              <a:ext uri="{FF2B5EF4-FFF2-40B4-BE49-F238E27FC236}">
                <a16:creationId xmlns:a16="http://schemas.microsoft.com/office/drawing/2014/main" id="{93A2688E-D0AC-4B52-BDE1-D393F6B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文档摘要</a:t>
            </a:r>
          </a:p>
        </p:txBody>
      </p:sp>
      <p:sp>
        <p:nvSpPr>
          <p:cNvPr id="4" name="从长材料提取结论，保留原文供人工核对。">
            <a:extLst xmlns:a="http://schemas.openxmlformats.org/drawingml/2006/main">
              <a:ext uri="{FF2B5EF4-FFF2-40B4-BE49-F238E27FC236}">
                <a16:creationId xmlns:a16="http://schemas.microsoft.com/office/drawing/2014/main" id="{068B9A19-422E-4022-9E32-D626732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从长材料提取结论，保留原文供人工核对。</a:t>
            </a:r>
          </a:p>
        </p:txBody>
      </p:sp>
      <p:sp>
        <p:nvSpPr>
          <p:cNvPr id="5" name="表达改写">
            <a:extLst xmlns:a="http://schemas.openxmlformats.org/drawingml/2006/main">
              <a:ext uri="{FF2B5EF4-FFF2-40B4-BE49-F238E27FC236}">
                <a16:creationId xmlns:a16="http://schemas.microsoft.com/office/drawing/2014/main" id="{AE9A61B9-D851-49B8-8227-103D384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表达改写</a:t>
            </a:r>
          </a:p>
        </p:txBody>
      </p:sp>
      <p:sp>
        <p:nvSpPr>
          <p:cNvPr id="6" name="针对同一段内容，生成更简短或更正式的表述。">
            <a:extLst xmlns:a="http://schemas.openxmlformats.org/drawingml/2006/main">
              <a:ext uri="{FF2B5EF4-FFF2-40B4-BE49-F238E27FC236}">
                <a16:creationId xmlns:a16="http://schemas.microsoft.com/office/drawing/2014/main" id="{1D209EFD-FB6A-420A-93C6-6FAE7DB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针对同一段内容，生成更简短或更正式的表述。</a:t>
            </a:r>
          </a:p>
        </p:txBody>
      </p:sp>
      <p:sp>
        <p:nvSpPr>
          <p:cNvPr id="7" name="06">
            <a:extLst xmlns:a="http://schemas.openxmlformats.org/drawingml/2006/main">
              <a:ext uri="{FF2B5EF4-FFF2-40B4-BE49-F238E27FC236}">
                <a16:creationId xmlns:a16="http://schemas.microsoft.com/office/drawing/2014/main" id="{2A57287F-269C-44C5-8C42-FDF2B3E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1718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权限管理">
            <a:extLst xmlns:a="http://schemas.openxmlformats.org/drawingml/2006/main">
              <a:ext uri="{FF2B5EF4-FFF2-40B4-BE49-F238E27FC236}">
                <a16:creationId xmlns:a16="http://schemas.microsoft.com/office/drawing/2014/main" id="{50FAB235-6064-41EA-881C-2229D4D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权限管理</a:t>
            </a:r>
          </a:p>
        </p:txBody>
      </p:sp>
      <p:sp>
        <p:nvSpPr>
          <p:cNvPr id="2" name="编辑、评论和查看各有范围">
            <a:extLst xmlns:a="http://schemas.openxmlformats.org/drawingml/2006/main">
              <a:ext uri="{FF2B5EF4-FFF2-40B4-BE49-F238E27FC236}">
                <a16:creationId xmlns:a16="http://schemas.microsoft.com/office/drawing/2014/main" id="{25EC60B8-72BB-4F80-9289-A1B1F4B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编辑、评论和查看各有范围</a:t>
            </a:r>
          </a:p>
        </p:txBody>
      </p:sp>
      <p:sp>
        <p:nvSpPr>
          <p:cNvPr id="3" name="团队角色">
            <a:extLst xmlns:a="http://schemas.openxmlformats.org/drawingml/2006/main">
              <a:ext uri="{FF2B5EF4-FFF2-40B4-BE49-F238E27FC236}">
                <a16:creationId xmlns:a16="http://schemas.microsoft.com/office/drawing/2014/main" id="{7ED40D00-A164-4BB3-B1DC-B62DDBC5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团队角色</a:t>
            </a:r>
          </a:p>
        </p:txBody>
      </p:sp>
      <p:sp>
        <p:nvSpPr>
          <p:cNvPr id="4" name="管理员分配编辑、评论或只读权限。">
            <a:extLst xmlns:a="http://schemas.openxmlformats.org/drawingml/2006/main">
              <a:ext uri="{FF2B5EF4-FFF2-40B4-BE49-F238E27FC236}">
                <a16:creationId xmlns:a16="http://schemas.microsoft.com/office/drawing/2014/main" id="{7A718A5F-E2C0-4001-830D-2AD6BEAE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管理员分配编辑、评论或只读权限。</a:t>
            </a:r>
          </a:p>
        </p:txBody>
      </p:sp>
      <p:sp>
        <p:nvSpPr>
          <p:cNvPr id="5" name="外部分享">
            <a:extLst xmlns:a="http://schemas.openxmlformats.org/drawingml/2006/main">
              <a:ext uri="{FF2B5EF4-FFF2-40B4-BE49-F238E27FC236}">
                <a16:creationId xmlns:a16="http://schemas.microsoft.com/office/drawing/2014/main" id="{CCBCC72C-FCED-4141-BD78-6F6129F4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外部分享</a:t>
            </a:r>
          </a:p>
        </p:txBody>
      </p:sp>
      <p:sp>
        <p:nvSpPr>
          <p:cNvPr id="6" name="客户链接可设置到期时间，随时撤销访问。">
            <a:extLst xmlns:a="http://schemas.openxmlformats.org/drawingml/2006/main">
              <a:ext uri="{FF2B5EF4-FFF2-40B4-BE49-F238E27FC236}">
                <a16:creationId xmlns:a16="http://schemas.microsoft.com/office/drawing/2014/main" id="{013937B2-86B9-414C-9E63-55A10568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客户链接可设置到期时间，随时撤销访问。</a:t>
            </a:r>
          </a:p>
        </p:txBody>
      </p:sp>
      <p:sp>
        <p:nvSpPr>
          <p:cNvPr id="7" name="07">
            <a:extLst xmlns:a="http://schemas.openxmlformats.org/drawingml/2006/main">
              <a:ext uri="{FF2B5EF4-FFF2-40B4-BE49-F238E27FC236}">
                <a16:creationId xmlns:a16="http://schemas.microsoft.com/office/drawing/2014/main" id="{139DF913-F7A5-4C74-9D6A-D51A734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486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2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产品规划">
            <a:extLst xmlns:a="http://schemas.openxmlformats.org/drawingml/2006/main">
              <a:ext uri="{FF2B5EF4-FFF2-40B4-BE49-F238E27FC236}">
                <a16:creationId xmlns:a16="http://schemas.microsoft.com/office/drawing/2014/main" id="{63055CCC-8196-460C-84CA-970515B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产品规划</a:t>
            </a:r>
          </a:p>
        </p:txBody>
      </p:sp>
      <p:sp>
        <p:nvSpPr>
          <p:cNvPr id="2" name="未来两个季度的开发顺序">
            <a:extLst xmlns:a="http://schemas.openxmlformats.org/drawingml/2006/main">
              <a:ext uri="{FF2B5EF4-FFF2-40B4-BE49-F238E27FC236}">
                <a16:creationId xmlns:a16="http://schemas.microsoft.com/office/drawing/2014/main" id="{DCD676A7-14FF-4398-AAD4-6C588E3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rPr>
              <a:t>未来两个季度的开发顺序</a:t>
            </a:r>
          </a:p>
        </p:txBody>
      </p:sp>
      <p:sp>
        <p:nvSpPr>
          <p:cNvPr id="3" name="第一季度">
            <a:extLst xmlns:a="http://schemas.openxmlformats.org/drawingml/2006/main">
              <a:ext uri="{FF2B5EF4-FFF2-40B4-BE49-F238E27FC236}">
                <a16:creationId xmlns:a16="http://schemas.microsoft.com/office/drawing/2014/main" id="{0C7844AB-9E31-4234-A248-4B78134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第一季度</a:t>
            </a:r>
          </a:p>
        </p:txBody>
      </p:sp>
      <p:sp>
        <p:nvSpPr>
          <p:cNvPr id="4" name="完善核心协作体验，交付移动端首版。">
            <a:extLst xmlns:a="http://schemas.openxmlformats.org/drawingml/2006/main">
              <a:ext uri="{FF2B5EF4-FFF2-40B4-BE49-F238E27FC236}">
                <a16:creationId xmlns:a16="http://schemas.microsoft.com/office/drawing/2014/main" id="{DCA9944D-4E0F-4D64-A3ED-E46B262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完善核心协作体验，交付移动端首版。</a:t>
            </a:r>
          </a:p>
        </p:txBody>
      </p:sp>
      <p:sp>
        <p:nvSpPr>
          <p:cNvPr id="5" name="第二季度">
            <a:extLst xmlns:a="http://schemas.openxmlformats.org/drawingml/2006/main">
              <a:ext uri="{FF2B5EF4-FFF2-40B4-BE49-F238E27FC236}">
                <a16:creationId xmlns:a16="http://schemas.microsoft.com/office/drawing/2014/main" id="{7E097D39-A7F4-4080-B7E2-0F4E1277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第二季度</a:t>
            </a:r>
          </a:p>
        </p:txBody>
      </p:sp>
      <p:sp>
        <p:nvSpPr>
          <p:cNvPr id="6" name="开放合作伙伴接口，推进企业部署能力。">
            <a:extLst xmlns:a="http://schemas.openxmlformats.org/drawingml/2006/main">
              <a:ext uri="{FF2B5EF4-FFF2-40B4-BE49-F238E27FC236}">
                <a16:creationId xmlns:a16="http://schemas.microsoft.com/office/drawing/2014/main" id="{83B5A943-326A-42E2-809C-33C11CA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开放合作伙伴接口，推进企业部署能力。</a:t>
            </a: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33841425-C798-4128-9C2A-217A6F86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5564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移动端体验">
            <a:extLst xmlns:a="http://schemas.openxmlformats.org/drawingml/2006/main">
              <a:ext uri="{FF2B5EF4-FFF2-40B4-BE49-F238E27FC236}">
                <a16:creationId xmlns:a16="http://schemas.microsoft.com/office/drawing/2014/main" id="{C32F072A-C657-4353-9BB4-38F247D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移动端体验</a:t>
            </a:r>
          </a:p>
        </p:txBody>
      </p:sp>
      <p:sp>
        <p:nvSpPr>
          <p:cNvPr id="2" name="出差途中也能完成文档审批">
            <a:extLst xmlns:a="http://schemas.openxmlformats.org/drawingml/2006/main">
              <a:ext uri="{FF2B5EF4-FFF2-40B4-BE49-F238E27FC236}">
                <a16:creationId xmlns:a16="http://schemas.microsoft.com/office/drawing/2014/main" id="{357C4A41-1135-4D60-B469-ECEE7B4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出差途中也能完成文档审批</a:t>
            </a:r>
          </a:p>
        </p:txBody>
      </p:sp>
      <p:sp>
        <p:nvSpPr>
          <p:cNvPr id="3" name="快速查看">
            <a:extLst xmlns:a="http://schemas.openxmlformats.org/drawingml/2006/main">
              <a:ext uri="{FF2B5EF4-FFF2-40B4-BE49-F238E27FC236}">
                <a16:creationId xmlns:a16="http://schemas.microsoft.com/office/drawing/2014/main" id="{005B1334-010D-4DB5-BDBE-07CEE34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快速查看</a:t>
            </a:r>
          </a:p>
        </p:txBody>
      </p:sp>
      <p:sp>
        <p:nvSpPr>
          <p:cNvPr id="4" name="手机打开提案，阅读关键段落与最新评论。">
            <a:extLst xmlns:a="http://schemas.openxmlformats.org/drawingml/2006/main">
              <a:ext uri="{FF2B5EF4-FFF2-40B4-BE49-F238E27FC236}">
                <a16:creationId xmlns:a16="http://schemas.microsoft.com/office/drawing/2014/main" id="{DFA986DD-1815-4252-A435-FC0F9F4A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手机打开提案，阅读关键段落与最新评论。</a:t>
            </a:r>
          </a:p>
        </p:txBody>
      </p:sp>
      <p:sp>
        <p:nvSpPr>
          <p:cNvPr id="5" name="离线批注">
            <a:extLst xmlns:a="http://schemas.openxmlformats.org/drawingml/2006/main">
              <a:ext uri="{FF2B5EF4-FFF2-40B4-BE49-F238E27FC236}">
                <a16:creationId xmlns:a16="http://schemas.microsoft.com/office/drawing/2014/main" id="{9748D284-7EC1-4882-ADEE-8155AF94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离线批注</a:t>
            </a:r>
          </a:p>
        </p:txBody>
      </p:sp>
      <p:sp>
        <p:nvSpPr>
          <p:cNvPr id="6" name="网络不稳定时先记录意见，恢复连接后同步。">
            <a:extLst xmlns:a="http://schemas.openxmlformats.org/drawingml/2006/main">
              <a:ext uri="{FF2B5EF4-FFF2-40B4-BE49-F238E27FC236}">
                <a16:creationId xmlns:a16="http://schemas.microsoft.com/office/drawing/2014/main" id="{87D38BC0-BC9F-480A-9FE8-5A4D827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网络不稳定时先记录意见，恢复连接后同步。</a:t>
            </a:r>
          </a:p>
        </p:txBody>
      </p:sp>
      <p:sp>
        <p:nvSpPr>
          <p:cNvPr id="7" name="09">
            <a:extLst xmlns:a="http://schemas.openxmlformats.org/drawingml/2006/main">
              <a:ext uri="{FF2B5EF4-FFF2-40B4-BE49-F238E27FC236}">
                <a16:creationId xmlns:a16="http://schemas.microsoft.com/office/drawing/2014/main" id="{E564A5F2-45C3-487F-ACD9-4034B401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3837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开放接口">
            <a:extLst xmlns:a="http://schemas.openxmlformats.org/drawingml/2006/main">
              <a:ext uri="{FF2B5EF4-FFF2-40B4-BE49-F238E27FC236}">
                <a16:creationId xmlns:a16="http://schemas.microsoft.com/office/drawing/2014/main" id="{706D84EC-1EA6-4D18-B173-A1A5B83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开放接口</a:t>
            </a:r>
          </a:p>
        </p:txBody>
      </p:sp>
      <p:sp>
        <p:nvSpPr>
          <p:cNvPr id="2" name="业务系统直接接入工作区">
            <a:extLst xmlns:a="http://schemas.openxmlformats.org/drawingml/2006/main">
              <a:ext uri="{FF2B5EF4-FFF2-40B4-BE49-F238E27FC236}">
                <a16:creationId xmlns:a16="http://schemas.microsoft.com/office/drawing/2014/main" id="{85666F8E-FB12-4A86-9744-D1BC2073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业务系统直接接入工作区</a:t>
            </a:r>
          </a:p>
        </p:txBody>
      </p:sp>
      <p:sp>
        <p:nvSpPr>
          <p:cNvPr id="3" name="客户系统集成">
            <a:extLst xmlns:a="http://schemas.openxmlformats.org/drawingml/2006/main">
              <a:ext uri="{FF2B5EF4-FFF2-40B4-BE49-F238E27FC236}">
                <a16:creationId xmlns:a16="http://schemas.microsoft.com/office/drawing/2014/main" id="{CDCAB050-2901-4B30-80E1-C163D80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客户系统集成</a:t>
            </a:r>
          </a:p>
        </p:txBody>
      </p:sp>
      <p:sp>
        <p:nvSpPr>
          <p:cNvPr id="4" name="CRM 创建项目时，同时建立客户文档目录。">
            <a:extLst xmlns:a="http://schemas.openxmlformats.org/drawingml/2006/main">
              <a:ext uri="{FF2B5EF4-FFF2-40B4-BE49-F238E27FC236}">
                <a16:creationId xmlns:a16="http://schemas.microsoft.com/office/drawing/2014/main" id="{C9EEF23A-242C-4CF2-8127-8EE654E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CRM 创建项目时，同时建立客户文档目录。</a:t>
            </a:r>
          </a:p>
        </p:txBody>
      </p:sp>
      <p:sp>
        <p:nvSpPr>
          <p:cNvPr id="5" name="事件通知">
            <a:extLst xmlns:a="http://schemas.openxmlformats.org/drawingml/2006/main">
              <a:ext uri="{FF2B5EF4-FFF2-40B4-BE49-F238E27FC236}">
                <a16:creationId xmlns:a16="http://schemas.microsoft.com/office/drawing/2014/main" id="{1F45C023-9D72-4C80-9943-C854FD2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事件通知</a:t>
            </a:r>
          </a:p>
        </p:txBody>
      </p:sp>
      <p:sp>
        <p:nvSpPr>
          <p:cNvPr id="6" name="Webhook 推送审批完成和文件更新事件。">
            <a:extLst xmlns:a="http://schemas.openxmlformats.org/drawingml/2006/main">
              <a:ext uri="{FF2B5EF4-FFF2-40B4-BE49-F238E27FC236}">
                <a16:creationId xmlns:a16="http://schemas.microsoft.com/office/drawing/2014/main" id="{0D6361DE-8F26-4692-9C90-D778A43F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Webhook 推送审批完成和文件更新事件。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04AE23DA-DF45-4518-B27B-1C2EEE8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5122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企业部署">
            <a:extLst xmlns:a="http://schemas.openxmlformats.org/drawingml/2006/main">
              <a:ext uri="{FF2B5EF4-FFF2-40B4-BE49-F238E27FC236}">
                <a16:creationId xmlns:a16="http://schemas.microsoft.com/office/drawing/2014/main" id="{54EC09EF-3A01-4BEC-9168-8E8DE3C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企业部署</a:t>
            </a:r>
          </a:p>
        </p:txBody>
      </p:sp>
      <p:sp>
        <p:nvSpPr>
          <p:cNvPr id="2" name="提供独立租户和统一身份接入">
            <a:extLst xmlns:a="http://schemas.openxmlformats.org/drawingml/2006/main">
              <a:ext uri="{FF2B5EF4-FFF2-40B4-BE49-F238E27FC236}">
                <a16:creationId xmlns:a16="http://schemas.microsoft.com/office/drawing/2014/main" id="{789BE2D5-0FAE-4CC5-9510-450E326B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提供独立租户和统一身份接入</a:t>
            </a:r>
          </a:p>
        </p:txBody>
      </p:sp>
      <p:sp>
        <p:nvSpPr>
          <p:cNvPr id="3" name="部署方式">
            <a:extLst xmlns:a="http://schemas.openxmlformats.org/drawingml/2006/main">
              <a:ext uri="{FF2B5EF4-FFF2-40B4-BE49-F238E27FC236}">
                <a16:creationId xmlns:a16="http://schemas.microsoft.com/office/drawing/2014/main" id="{B91880CB-C0B3-47BE-929F-0AB04E7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部署方式</a:t>
            </a:r>
          </a:p>
        </p:txBody>
      </p:sp>
      <p:sp>
        <p:nvSpPr>
          <p:cNvPr id="4" name="企业选择专属租户，配置自己的访问域名。">
            <a:extLst xmlns:a="http://schemas.openxmlformats.org/drawingml/2006/main">
              <a:ext uri="{FF2B5EF4-FFF2-40B4-BE49-F238E27FC236}">
                <a16:creationId xmlns:a16="http://schemas.microsoft.com/office/drawing/2014/main" id="{0123D514-E36A-4313-A1AD-CD8E4784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企业选择专属租户，配置自己的访问域名。</a:t>
            </a:r>
          </a:p>
        </p:txBody>
      </p:sp>
      <p:sp>
        <p:nvSpPr>
          <p:cNvPr id="5" name="身份系统">
            <a:extLst xmlns:a="http://schemas.openxmlformats.org/drawingml/2006/main">
              <a:ext uri="{FF2B5EF4-FFF2-40B4-BE49-F238E27FC236}">
                <a16:creationId xmlns:a16="http://schemas.microsoft.com/office/drawing/2014/main" id="{79796A82-7719-47A9-950E-3F30C9B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身份系统</a:t>
            </a:r>
          </a:p>
        </p:txBody>
      </p:sp>
      <p:sp>
        <p:nvSpPr>
          <p:cNvPr id="6" name="通过单点登录接入组织账号，集中管理员工身份。">
            <a:extLst xmlns:a="http://schemas.openxmlformats.org/drawingml/2006/main">
              <a:ext uri="{FF2B5EF4-FFF2-40B4-BE49-F238E27FC236}">
                <a16:creationId xmlns:a16="http://schemas.microsoft.com/office/drawing/2014/main" id="{A86F2054-CC67-4065-8577-35CA5CA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通过单点登录接入组织账号，集中管理员工身份。</a:t>
            </a:r>
          </a:p>
        </p:txBody>
      </p:sp>
      <p:sp>
        <p:nvSpPr>
          <p:cNvPr id="7" name="11">
            <a:extLst xmlns:a="http://schemas.openxmlformats.org/drawingml/2006/main">
              <a:ext uri="{FF2B5EF4-FFF2-40B4-BE49-F238E27FC236}">
                <a16:creationId xmlns:a16="http://schemas.microsoft.com/office/drawing/2014/main" id="{8D38907E-E214-4F6D-8688-E04113D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6028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定价策略">
            <a:extLst xmlns:a="http://schemas.openxmlformats.org/drawingml/2006/main">
              <a:ext uri="{FF2B5EF4-FFF2-40B4-BE49-F238E27FC236}">
                <a16:creationId xmlns:a16="http://schemas.microsoft.com/office/drawing/2014/main" id="{02181FBA-F867-442B-9E92-A8E04EA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定价策略</a:t>
            </a:r>
          </a:p>
        </p:txBody>
      </p:sp>
      <p:sp>
        <p:nvSpPr>
          <p:cNvPr id="2" name="按席位订阅，按团队能力分档">
            <a:extLst xmlns:a="http://schemas.openxmlformats.org/drawingml/2006/main">
              <a:ext uri="{FF2B5EF4-FFF2-40B4-BE49-F238E27FC236}">
                <a16:creationId xmlns:a16="http://schemas.microsoft.com/office/drawing/2014/main" id="{F03BE3A8-454D-4EC1-82DB-100AD9D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按席位订阅，按团队能力分档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743200"/>
          <a:ext xmlns:a="http://schemas.openxmlformats.org/drawingml/2006/main" cx="106680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333750"/>
                <a:gridCol w="5000625"/>
              </a:tblGrid>
              <a:tr h="63103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</a:t>
                      </a:r>
                    </a:p>
                  </a:txBody>
                  <a:tcPr marL="152400" marR="152400" marT="114300" marB="114300">
                    <a:solidFill>
                      <a:srgbClr val="18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示例月费</a:t>
                      </a:r>
                    </a:p>
                  </a:txBody>
                  <a:tcPr marL="152400" marR="152400" marT="114300" marB="114300">
                    <a:solidFill>
                      <a:srgbClr val="18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主要能力</a:t>
                      </a:r>
                    </a:p>
                  </a:txBody>
                  <a:tcPr marL="152400" marR="152400" marT="114300" marB="114300">
                    <a:solidFill>
                      <a:srgbClr val="182B42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基础版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¥29 / 人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共享编辑与版本历史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专业版</a:t>
                      </a:r>
                    </a:p>
                  </a:txBody>
                  <a:tcPr marL="152400" marR="152400" marT="114300" marB="114300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¥59 / 人</a:t>
                      </a:r>
                    </a:p>
                  </a:txBody>
                  <a:tcPr marL="152400" marR="152400" marT="114300" marB="114300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高级审批与管理能力</a:t>
                      </a:r>
                    </a:p>
                  </a:txBody>
                  <a:tcPr marL="152400" marR="152400" marT="114300" marB="114300">
                    <a:solidFill>
                      <a:srgbClr val="ECEAE5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企业版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按需报价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专属租户与组织接入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虚构价格，仅用于演示。按月订阅的定价假设。">
            <a:extLst xmlns:a="http://schemas.openxmlformats.org/drawingml/2006/main">
              <a:ext uri="{FF2B5EF4-FFF2-40B4-BE49-F238E27FC236}">
                <a16:creationId xmlns:a16="http://schemas.microsoft.com/office/drawing/2014/main" id="{8900C612-6FEC-4765-BA03-CE4324B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虚构价格，仅用于演示。按月订阅的定价假设。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954C5158-A4A0-4A5F-81D8-1247DDE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93448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成本控制">
            <a:extLst xmlns:a="http://schemas.openxmlformats.org/drawingml/2006/main">
              <a:ext uri="{FF2B5EF4-FFF2-40B4-BE49-F238E27FC236}">
                <a16:creationId xmlns:a16="http://schemas.microsoft.com/office/drawing/2014/main" id="{6BA3DB20-A6FA-4134-9542-E332327E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成本控制</a:t>
            </a:r>
          </a:p>
        </p:txBody>
      </p:sp>
      <p:sp>
        <p:nvSpPr>
          <p:cNvPr id="2" name="限制高成本任务的重复执行">
            <a:extLst xmlns:a="http://schemas.openxmlformats.org/drawingml/2006/main">
              <a:ext uri="{FF2B5EF4-FFF2-40B4-BE49-F238E27FC236}">
                <a16:creationId xmlns:a16="http://schemas.microsoft.com/office/drawing/2014/main" id="{D10213AF-D850-4E54-B4CB-A1848B8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限制高成本任务的重复执行</a:t>
            </a:r>
          </a:p>
        </p:txBody>
      </p:sp>
      <p:sp>
        <p:nvSpPr>
          <p:cNvPr id="3" name="额度管理">
            <a:extLst xmlns:a="http://schemas.openxmlformats.org/drawingml/2006/main">
              <a:ext uri="{FF2B5EF4-FFF2-40B4-BE49-F238E27FC236}">
                <a16:creationId xmlns:a16="http://schemas.microsoft.com/office/drawing/2014/main" id="{CD574FAA-6352-4FA9-BE99-112A137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额度管理</a:t>
            </a:r>
          </a:p>
        </p:txBody>
      </p:sp>
      <p:sp>
        <p:nvSpPr>
          <p:cNvPr id="4" name="管理员设置团队月度用量，并在接近上限时提醒。">
            <a:extLst xmlns:a="http://schemas.openxmlformats.org/drawingml/2006/main">
              <a:ext uri="{FF2B5EF4-FFF2-40B4-BE49-F238E27FC236}">
                <a16:creationId xmlns:a16="http://schemas.microsoft.com/office/drawing/2014/main" id="{ABCFFAE0-6B1D-4C74-BCA3-09008F0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管理员设置团队月度用量，并在接近上限时提醒。</a:t>
            </a:r>
          </a:p>
        </p:txBody>
      </p:sp>
      <p:sp>
        <p:nvSpPr>
          <p:cNvPr id="5" name="复用已有结果">
            <a:extLst xmlns:a="http://schemas.openxmlformats.org/drawingml/2006/main">
              <a:ext uri="{FF2B5EF4-FFF2-40B4-BE49-F238E27FC236}">
                <a16:creationId xmlns:a16="http://schemas.microsoft.com/office/drawing/2014/main" id="{FCAE8EFB-010D-46AF-8A6C-CFAA294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复用已有结果</a:t>
            </a:r>
          </a:p>
        </p:txBody>
      </p:sp>
      <p:sp>
        <p:nvSpPr>
          <p:cNvPr id="6" name="相同文档的重复摘要优先使用已确认结果。">
            <a:extLst xmlns:a="http://schemas.openxmlformats.org/drawingml/2006/main">
              <a:ext uri="{FF2B5EF4-FFF2-40B4-BE49-F238E27FC236}">
                <a16:creationId xmlns:a16="http://schemas.microsoft.com/office/drawing/2014/main" id="{2E6103BA-C8D2-4C67-8E57-0D33F5F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相同文档的重复摘要优先使用已确认结果。</a:t>
            </a:r>
          </a:p>
        </p:txBody>
      </p:sp>
      <p:sp>
        <p:nvSpPr>
          <p:cNvPr id="7" name="13">
            <a:extLst xmlns:a="http://schemas.openxmlformats.org/drawingml/2006/main">
              <a:ext uri="{FF2B5EF4-FFF2-40B4-BE49-F238E27FC236}">
                <a16:creationId xmlns:a16="http://schemas.microsoft.com/office/drawing/2014/main" id="{DACFCDF9-5480-4D4F-AE54-02887DE9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44137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试点成效">
            <a:extLst xmlns:a="http://schemas.openxmlformats.org/drawingml/2006/main">
              <a:ext uri="{FF2B5EF4-FFF2-40B4-BE49-F238E27FC236}">
                <a16:creationId xmlns:a16="http://schemas.microsoft.com/office/drawing/2014/main" id="{25FD85B6-2E0A-4F03-B7D3-62F3F511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试点成效</a:t>
            </a:r>
          </a:p>
        </p:txBody>
      </p:sp>
      <p:sp>
        <p:nvSpPr>
          <p:cNvPr id="2" name="提案整理时间缩短">
            <a:extLst xmlns:a="http://schemas.openxmlformats.org/drawingml/2006/main">
              <a:ext uri="{FF2B5EF4-FFF2-40B4-BE49-F238E27FC236}">
                <a16:creationId xmlns:a16="http://schemas.microsoft.com/office/drawing/2014/main" id="{EFA53375-6F85-455F-8FA3-F221357A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提案整理时间缩短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175e646b484f68"/>
          </a:graphicData>
        </a:graphic>
      </p:graphicFrame>
      <p:sp>
        <p:nvSpPr>
          <p:cNvPr id="4" name="75">
            <a:extLst xmlns:a="http://schemas.openxmlformats.org/drawingml/2006/main">
              <a:ext uri="{FF2B5EF4-FFF2-40B4-BE49-F238E27FC236}">
                <a16:creationId xmlns:a16="http://schemas.microsoft.com/office/drawing/2014/main" id="{8FF961A2-8240-435A-BAF2-1D2AEE25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75</a:t>
            </a:r>
          </a:p>
        </p:txBody>
      </p:sp>
      <p:sp>
        <p:nvSpPr>
          <p:cNvPr id="5" name="分钟 / 份提案节省">
            <a:extLst xmlns:a="http://schemas.openxmlformats.org/drawingml/2006/main">
              <a:ext uri="{FF2B5EF4-FFF2-40B4-BE49-F238E27FC236}">
                <a16:creationId xmlns:a16="http://schemas.microsoft.com/office/drawing/2014/main" id="{8ACAED5F-994D-4E07-9623-1EC6315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62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分钟 / 份提案节省</a:t>
            </a:r>
          </a:p>
        </p:txBody>
      </p:sp>
      <p:sp>
        <p:nvSpPr>
          <p:cNvPr id="6" name="虚构试点数据，仅用于演示。">
            <a:extLst xmlns:a="http://schemas.openxmlformats.org/drawingml/2006/main">
              <a:ext uri="{FF2B5EF4-FFF2-40B4-BE49-F238E27FC236}">
                <a16:creationId xmlns:a16="http://schemas.microsoft.com/office/drawing/2014/main" id="{551D36FA-24D9-4C04-93DA-75D6E64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虚构试点数据，仅用于演示。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B8F59FEB-5A86-48DD-81CB-03C106DD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52176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客户案例">
            <a:extLst xmlns:a="http://schemas.openxmlformats.org/drawingml/2006/main">
              <a:ext uri="{FF2B5EF4-FFF2-40B4-BE49-F238E27FC236}">
                <a16:creationId xmlns:a16="http://schemas.microsoft.com/office/drawing/2014/main" id="{D6366B9B-850D-4658-81F6-CB6C38FE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客户案例</a:t>
            </a:r>
          </a:p>
        </p:txBody>
      </p:sp>
      <p:sp>
        <p:nvSpPr>
          <p:cNvPr id="2" name="青禾设计的跨城提案协作">
            <a:extLst xmlns:a="http://schemas.openxmlformats.org/drawingml/2006/main">
              <a:ext uri="{FF2B5EF4-FFF2-40B4-BE49-F238E27FC236}">
                <a16:creationId xmlns:a16="http://schemas.microsoft.com/office/drawing/2014/main" id="{0833C088-8D2F-4C16-BC6B-E401E44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青禾设计的跨城提案协作</a:t>
            </a:r>
          </a:p>
        </p:txBody>
      </p:sp>
      <p:sp>
        <p:nvSpPr>
          <p:cNvPr id="3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C0A697BA-5A9B-4677-8B9B-3BFE9BC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项目背景</a:t>
            </a:r>
          </a:p>
        </p:txBody>
      </p:sp>
      <p:sp>
        <p:nvSpPr>
          <p:cNvPr id="4" name="虚构的 60 人设计公司，三个办公室共同服务客户。">
            <a:extLst xmlns:a="http://schemas.openxmlformats.org/drawingml/2006/main">
              <a:ext uri="{FF2B5EF4-FFF2-40B4-BE49-F238E27FC236}">
                <a16:creationId xmlns:a16="http://schemas.microsoft.com/office/drawing/2014/main" id="{E601C313-C989-4533-B744-81B8290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虚构的 60 人设计公司，三个办公室共同服务客户。</a:t>
            </a:r>
          </a:p>
        </p:txBody>
      </p:sp>
      <p:sp>
        <p:nvSpPr>
          <p:cNvPr id="5" name="工作变化">
            <a:extLst xmlns:a="http://schemas.openxmlformats.org/drawingml/2006/main">
              <a:ext uri="{FF2B5EF4-FFF2-40B4-BE49-F238E27FC236}">
                <a16:creationId xmlns:a16="http://schemas.microsoft.com/office/drawing/2014/main" id="{01FF6776-21D9-442F-84DF-CA0659E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工作变化</a:t>
            </a:r>
          </a:p>
        </p:txBody>
      </p:sp>
      <p:sp>
        <p:nvSpPr>
          <p:cNvPr id="6" name="负责人集中整理批注，客户始终查看同一个交付链接。">
            <a:extLst xmlns:a="http://schemas.openxmlformats.org/drawingml/2006/main">
              <a:ext uri="{FF2B5EF4-FFF2-40B4-BE49-F238E27FC236}">
                <a16:creationId xmlns:a16="http://schemas.microsoft.com/office/drawing/2014/main" id="{866CCE33-BE19-4684-861C-540C5587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负责人集中整理批注，客户始终查看同一个交付链接。</a:t>
            </a:r>
          </a:p>
        </p:txBody>
      </p:sp>
      <p:sp>
        <p:nvSpPr>
          <p:cNvPr id="7" name="15">
            <a:extLst xmlns:a="http://schemas.openxmlformats.org/drawingml/2006/main">
              <a:ext uri="{FF2B5EF4-FFF2-40B4-BE49-F238E27FC236}">
                <a16:creationId xmlns:a16="http://schemas.microsoft.com/office/drawing/2014/main" id="{8E8C0743-7127-4F19-A4A5-1A97AC4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5318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数据安全">
            <a:extLst xmlns:a="http://schemas.openxmlformats.org/drawingml/2006/main">
              <a:ext uri="{FF2B5EF4-FFF2-40B4-BE49-F238E27FC236}">
                <a16:creationId xmlns:a16="http://schemas.microsoft.com/office/drawing/2014/main" id="{A004C5BE-A9E6-430D-833E-641E3BA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数据安全</a:t>
            </a:r>
          </a:p>
        </p:txBody>
      </p:sp>
      <p:sp>
        <p:nvSpPr>
          <p:cNvPr id="2" name="文档内容加密，访问留有记录">
            <a:extLst xmlns:a="http://schemas.openxmlformats.org/drawingml/2006/main">
              <a:ext uri="{FF2B5EF4-FFF2-40B4-BE49-F238E27FC236}">
                <a16:creationId xmlns:a16="http://schemas.microsoft.com/office/drawing/2014/main" id="{C1052F95-75F6-43BF-B937-9FDC5851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文档内容加密，访问留有记录</a:t>
            </a:r>
          </a:p>
        </p:txBody>
      </p:sp>
      <p:sp>
        <p:nvSpPr>
          <p:cNvPr id="3" name="内容保护">
            <a:extLst xmlns:a="http://schemas.openxmlformats.org/drawingml/2006/main">
              <a:ext uri="{FF2B5EF4-FFF2-40B4-BE49-F238E27FC236}">
                <a16:creationId xmlns:a16="http://schemas.microsoft.com/office/drawing/2014/main" id="{586FD3D7-1C15-466A-9B88-EBC0507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内容保护</a:t>
            </a:r>
          </a:p>
        </p:txBody>
      </p:sp>
      <p:sp>
        <p:nvSpPr>
          <p:cNvPr id="4" name="传输与存储采用加密，备份与生产数据分开管理。">
            <a:extLst xmlns:a="http://schemas.openxmlformats.org/drawingml/2006/main">
              <a:ext uri="{FF2B5EF4-FFF2-40B4-BE49-F238E27FC236}">
                <a16:creationId xmlns:a16="http://schemas.microsoft.com/office/drawing/2014/main" id="{D43B2F9E-3907-458C-98CB-EE62DD3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传输与存储采用加密，备份与生产数据分开管理。</a:t>
            </a:r>
          </a:p>
        </p:txBody>
      </p:sp>
      <p:sp>
        <p:nvSpPr>
          <p:cNvPr id="5" name="审计记录">
            <a:extLst xmlns:a="http://schemas.openxmlformats.org/drawingml/2006/main">
              <a:ext uri="{FF2B5EF4-FFF2-40B4-BE49-F238E27FC236}">
                <a16:creationId xmlns:a16="http://schemas.microsoft.com/office/drawing/2014/main" id="{86DB1E7A-B89D-49DA-9F40-B8B2C3C8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审计记录</a:t>
            </a:r>
          </a:p>
        </p:txBody>
      </p:sp>
      <p:sp>
        <p:nvSpPr>
          <p:cNvPr id="6" name="记录下载、分享和管理操作，支持事后追溯。">
            <a:extLst xmlns:a="http://schemas.openxmlformats.org/drawingml/2006/main">
              <a:ext uri="{FF2B5EF4-FFF2-40B4-BE49-F238E27FC236}">
                <a16:creationId xmlns:a16="http://schemas.microsoft.com/office/drawing/2014/main" id="{9BC91579-9897-491F-92B3-4DD0C7F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记录下载、分享和管理操作，支持事后追溯。</a:t>
            </a:r>
          </a:p>
        </p:txBody>
      </p:sp>
      <p:sp>
        <p:nvSpPr>
          <p:cNvPr id="7" name="16">
            <a:extLst xmlns:a="http://schemas.openxmlformats.org/drawingml/2006/main">
              <a:ext uri="{FF2B5EF4-FFF2-40B4-BE49-F238E27FC236}">
                <a16:creationId xmlns:a16="http://schemas.microsoft.com/office/drawing/2014/main" id="{0866ADDD-859D-415B-9F9B-F7C01BD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540414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性能与容量">
            <a:extLst xmlns:a="http://schemas.openxmlformats.org/drawingml/2006/main">
              <a:ext uri="{FF2B5EF4-FFF2-40B4-BE49-F238E27FC236}">
                <a16:creationId xmlns:a16="http://schemas.microsoft.com/office/drawing/2014/main" id="{92A5CD63-0B99-4CE7-A9FE-0DE011A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性能与容量</a:t>
            </a:r>
          </a:p>
        </p:txBody>
      </p:sp>
      <p:sp>
        <p:nvSpPr>
          <p:cNvPr id="2" name="给日常协作设定验收目标">
            <a:extLst xmlns:a="http://schemas.openxmlformats.org/drawingml/2006/main">
              <a:ext uri="{FF2B5EF4-FFF2-40B4-BE49-F238E27FC236}">
                <a16:creationId xmlns:a16="http://schemas.microsoft.com/office/drawing/2014/main" id="{77D3C76A-D53D-4232-811E-D8932FD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给日常协作设定验收目标</a:t>
            </a:r>
          </a:p>
        </p:txBody>
      </p:sp>
      <p:sp>
        <p:nvSpPr>
          <p:cNvPr id="3" name="打开速度">
            <a:extLst xmlns:a="http://schemas.openxmlformats.org/drawingml/2006/main">
              <a:ext uri="{FF2B5EF4-FFF2-40B4-BE49-F238E27FC236}">
                <a16:creationId xmlns:a16="http://schemas.microsoft.com/office/drawing/2014/main" id="{D928178F-AB80-43D8-8F94-E332D7E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打开速度</a:t>
            </a:r>
          </a:p>
        </p:txBody>
      </p:sp>
      <p:sp>
        <p:nvSpPr>
          <p:cNvPr id="4" name="常规文档首次打开目标为 2 秒以内。">
            <a:extLst xmlns:a="http://schemas.openxmlformats.org/drawingml/2006/main">
              <a:ext uri="{FF2B5EF4-FFF2-40B4-BE49-F238E27FC236}">
                <a16:creationId xmlns:a16="http://schemas.microsoft.com/office/drawing/2014/main" id="{F4304594-12BD-4141-8300-843C2030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常规文档首次打开目标为 2 秒以内。</a:t>
            </a:r>
          </a:p>
        </p:txBody>
      </p:sp>
      <p:sp>
        <p:nvSpPr>
          <p:cNvPr id="5" name="并发容量">
            <a:extLst xmlns:a="http://schemas.openxmlformats.org/drawingml/2006/main">
              <a:ext uri="{FF2B5EF4-FFF2-40B4-BE49-F238E27FC236}">
                <a16:creationId xmlns:a16="http://schemas.microsoft.com/office/drawing/2014/main" id="{04368DC1-4969-4AEB-9016-0FFBFFF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并发容量</a:t>
            </a:r>
          </a:p>
        </p:txBody>
      </p:sp>
      <p:sp>
        <p:nvSpPr>
          <p:cNvPr id="6" name="单文档计划支持 50 人同时协作。">
            <a:extLst xmlns:a="http://schemas.openxmlformats.org/drawingml/2006/main">
              <a:ext uri="{FF2B5EF4-FFF2-40B4-BE49-F238E27FC236}">
                <a16:creationId xmlns:a16="http://schemas.microsoft.com/office/drawing/2014/main" id="{228196C3-6337-44E3-AA4F-500A9EF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单文档计划支持 50 人同时协作。</a:t>
            </a:r>
          </a:p>
        </p:txBody>
      </p:sp>
      <p:sp>
        <p:nvSpPr>
          <p:cNvPr id="7" name="17">
            <a:extLst xmlns:a="http://schemas.openxmlformats.org/drawingml/2006/main">
              <a:ext uri="{FF2B5EF4-FFF2-40B4-BE49-F238E27FC236}">
                <a16:creationId xmlns:a16="http://schemas.microsoft.com/office/drawing/2014/main" id="{FC3AE779-7894-4A43-BF02-F9EE6B3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34693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82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上线计划">
            <a:extLst xmlns:a="http://schemas.openxmlformats.org/drawingml/2006/main">
              <a:ext uri="{FF2B5EF4-FFF2-40B4-BE49-F238E27FC236}">
                <a16:creationId xmlns:a16="http://schemas.microsoft.com/office/drawing/2014/main" id="{620A29A9-AA7F-4899-93C7-EC6E649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上线计划</a:t>
            </a:r>
          </a:p>
        </p:txBody>
      </p:sp>
      <p:sp>
        <p:nvSpPr>
          <p:cNvPr id="2" name="四周完成首批团队上线">
            <a:extLst xmlns:a="http://schemas.openxmlformats.org/drawingml/2006/main">
              <a:ext uri="{FF2B5EF4-FFF2-40B4-BE49-F238E27FC236}">
                <a16:creationId xmlns:a16="http://schemas.microsoft.com/office/drawing/2014/main" id="{7C5ABB6D-EF93-465E-9AE8-99BDC0E0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rPr>
              <a:t>四周完成首批团队上线</a:t>
            </a:r>
          </a:p>
        </p:txBody>
      </p:sp>
      <p:sp>
        <p:nvSpPr>
          <p:cNvPr id="3" name="第 1–2 周">
            <a:extLst xmlns:a="http://schemas.openxmlformats.org/drawingml/2006/main">
              <a:ext uri="{FF2B5EF4-FFF2-40B4-BE49-F238E27FC236}">
                <a16:creationId xmlns:a16="http://schemas.microsoft.com/office/drawing/2014/main" id="{11B20AB1-EE2D-402D-8214-D4FC6BDD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 1–2 周</a:t>
            </a:r>
          </a:p>
        </p:txBody>
      </p:sp>
      <p:sp>
        <p:nvSpPr>
          <p:cNvPr id="4" name="选定试点团队，开通账号并导入代表性材料。">
            <a:extLst xmlns:a="http://schemas.openxmlformats.org/drawingml/2006/main">
              <a:ext uri="{FF2B5EF4-FFF2-40B4-BE49-F238E27FC236}">
                <a16:creationId xmlns:a16="http://schemas.microsoft.com/office/drawing/2014/main" id="{77D68562-AC48-453D-85B3-7AB3013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选定试点团队，开通账号并导入代表性材料。</a:t>
            </a:r>
          </a:p>
        </p:txBody>
      </p:sp>
      <p:sp>
        <p:nvSpPr>
          <p:cNvPr id="5" name="第 3–4 周">
            <a:extLst xmlns:a="http://schemas.openxmlformats.org/drawingml/2006/main">
              <a:ext uri="{FF2B5EF4-FFF2-40B4-BE49-F238E27FC236}">
                <a16:creationId xmlns:a16="http://schemas.microsoft.com/office/drawing/2014/main" id="{C55A61A2-FA0A-4C7C-BC46-2BFD633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 3–4 周</a:t>
            </a:r>
          </a:p>
        </p:txBody>
      </p:sp>
      <p:sp>
        <p:nvSpPr>
          <p:cNvPr id="6" name="收集使用反馈，完成验收后扩大开放范围。">
            <a:extLst xmlns:a="http://schemas.openxmlformats.org/drawingml/2006/main">
              <a:ext uri="{FF2B5EF4-FFF2-40B4-BE49-F238E27FC236}">
                <a16:creationId xmlns:a16="http://schemas.microsoft.com/office/drawing/2014/main" id="{7A7E4795-5159-4254-BF7F-705D853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收集使用反馈，完成验收后扩大开放范围。</a:t>
            </a:r>
          </a:p>
        </p:txBody>
      </p:sp>
      <p:sp>
        <p:nvSpPr>
          <p:cNvPr id="7" name="18">
            <a:extLst xmlns:a="http://schemas.openxmlformats.org/drawingml/2006/main">
              <a:ext uri="{FF2B5EF4-FFF2-40B4-BE49-F238E27FC236}">
                <a16:creationId xmlns:a16="http://schemas.microsoft.com/office/drawing/2014/main" id="{F8779A26-679A-40AC-97AE-DF99AA7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08182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培训与支持">
            <a:extLst xmlns:a="http://schemas.openxmlformats.org/drawingml/2006/main">
              <a:ext uri="{FF2B5EF4-FFF2-40B4-BE49-F238E27FC236}">
                <a16:creationId xmlns:a16="http://schemas.microsoft.com/office/drawing/2014/main" id="{C6E0CAB8-9281-4748-BC4E-B4DF6CD7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培训与支持</a:t>
            </a:r>
          </a:p>
        </p:txBody>
      </p:sp>
      <p:sp>
        <p:nvSpPr>
          <p:cNvPr id="2" name="让团队管理员先熟悉日常操作">
            <a:extLst xmlns:a="http://schemas.openxmlformats.org/drawingml/2006/main">
              <a:ext uri="{FF2B5EF4-FFF2-40B4-BE49-F238E27FC236}">
                <a16:creationId xmlns:a16="http://schemas.microsoft.com/office/drawing/2014/main" id="{2863DFEE-B95C-4D0A-B043-A960C00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让团队管理员先熟悉日常操作</a:t>
            </a:r>
          </a:p>
        </p:txBody>
      </p:sp>
      <p:sp>
        <p:nvSpPr>
          <p:cNvPr id="3" name="管理员培训">
            <a:extLst xmlns:a="http://schemas.openxmlformats.org/drawingml/2006/main">
              <a:ext uri="{FF2B5EF4-FFF2-40B4-BE49-F238E27FC236}">
                <a16:creationId xmlns:a16="http://schemas.microsoft.com/office/drawing/2014/main" id="{C11F4D30-2960-47C3-976D-7DD0F75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管理员培训</a:t>
            </a:r>
          </a:p>
        </p:txBody>
      </p:sp>
      <p:sp>
        <p:nvSpPr>
          <p:cNvPr id="4" name="设置成员、分享规则和常用文档模板。">
            <a:extLst xmlns:a="http://schemas.openxmlformats.org/drawingml/2006/main">
              <a:ext uri="{FF2B5EF4-FFF2-40B4-BE49-F238E27FC236}">
                <a16:creationId xmlns:a16="http://schemas.microsoft.com/office/drawing/2014/main" id="{208851A7-A9F6-4A37-892F-29F8C11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设置成员、分享规则和常用文档模板。</a:t>
            </a:r>
          </a:p>
        </p:txBody>
      </p:sp>
      <p:sp>
        <p:nvSpPr>
          <p:cNvPr id="5" name="问题反馈">
            <a:extLst xmlns:a="http://schemas.openxmlformats.org/drawingml/2006/main">
              <a:ext uri="{FF2B5EF4-FFF2-40B4-BE49-F238E27FC236}">
                <a16:creationId xmlns:a16="http://schemas.microsoft.com/office/drawing/2014/main" id="{BA6F82CA-9B1A-4D6F-B79F-56BB780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问题反馈</a:t>
            </a:r>
          </a:p>
        </p:txBody>
      </p:sp>
      <p:sp>
        <p:nvSpPr>
          <p:cNvPr id="6" name="通过工单提交问题，附上操作步骤和相关文档。">
            <a:extLst xmlns:a="http://schemas.openxmlformats.org/drawingml/2006/main">
              <a:ext uri="{FF2B5EF4-FFF2-40B4-BE49-F238E27FC236}">
                <a16:creationId xmlns:a16="http://schemas.microsoft.com/office/drawing/2014/main" id="{49A48A87-35D1-4711-BCED-1ABA1263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通过工单提交问题，附上操作步骤和相关文档。</a:t>
            </a:r>
          </a:p>
        </p:txBody>
      </p:sp>
      <p:sp>
        <p:nvSpPr>
          <p:cNvPr id="7" name="19">
            <a:extLst xmlns:a="http://schemas.openxmlformats.org/drawingml/2006/main">
              <a:ext uri="{FF2B5EF4-FFF2-40B4-BE49-F238E27FC236}">
                <a16:creationId xmlns:a16="http://schemas.microsoft.com/office/drawing/2014/main" id="{7293629A-FA10-4F50-ADD3-AE575D1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89886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数据迁移">
            <a:extLst xmlns:a="http://schemas.openxmlformats.org/drawingml/2006/main">
              <a:ext uri="{FF2B5EF4-FFF2-40B4-BE49-F238E27FC236}">
                <a16:creationId xmlns:a16="http://schemas.microsoft.com/office/drawing/2014/main" id="{7541EE1B-E0AD-4A06-ABDC-1CE3612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数据迁移</a:t>
            </a:r>
          </a:p>
        </p:txBody>
      </p:sp>
      <p:sp>
        <p:nvSpPr>
          <p:cNvPr id="2" name="旧资料按批次进入新工作区">
            <a:extLst xmlns:a="http://schemas.openxmlformats.org/drawingml/2006/main">
              <a:ext uri="{FF2B5EF4-FFF2-40B4-BE49-F238E27FC236}">
                <a16:creationId xmlns:a16="http://schemas.microsoft.com/office/drawing/2014/main" id="{1B234469-716B-4795-9AA6-DA3FEC5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旧资料按批次进入新工作区</a:t>
            </a:r>
          </a:p>
        </p:txBody>
      </p:sp>
      <p:sp>
        <p:nvSpPr>
          <p:cNvPr id="3" name="迁移准备">
            <a:extLst xmlns:a="http://schemas.openxmlformats.org/drawingml/2006/main">
              <a:ext uri="{FF2B5EF4-FFF2-40B4-BE49-F238E27FC236}">
                <a16:creationId xmlns:a16="http://schemas.microsoft.com/office/drawing/2014/main" id="{FD9A1FDE-7B20-4355-BA99-63D12EC0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迁移准备</a:t>
            </a:r>
          </a:p>
        </p:txBody>
      </p:sp>
      <p:sp>
        <p:nvSpPr>
          <p:cNvPr id="4" name="盘点共享盘资料，去除重复副本并确认负责人。">
            <a:extLst xmlns:a="http://schemas.openxmlformats.org/drawingml/2006/main">
              <a:ext uri="{FF2B5EF4-FFF2-40B4-BE49-F238E27FC236}">
                <a16:creationId xmlns:a16="http://schemas.microsoft.com/office/drawing/2014/main" id="{6B593837-BEE4-4D97-8FA0-954D7FC7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盘点共享盘资料，去除重复副本并确认负责人。</a:t>
            </a:r>
          </a:p>
        </p:txBody>
      </p:sp>
      <p:sp>
        <p:nvSpPr>
          <p:cNvPr id="5" name="导入验收">
            <a:extLst xmlns:a="http://schemas.openxmlformats.org/drawingml/2006/main">
              <a:ext uri="{FF2B5EF4-FFF2-40B4-BE49-F238E27FC236}">
                <a16:creationId xmlns:a16="http://schemas.microsoft.com/office/drawing/2014/main" id="{8D2279D1-7EEE-46E9-B98A-2CBAAEA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导入验收</a:t>
            </a:r>
          </a:p>
        </p:txBody>
      </p:sp>
      <p:sp>
        <p:nvSpPr>
          <p:cNvPr id="6" name="分批导入文件，核对数量、目录结构与访问权限。">
            <a:extLst xmlns:a="http://schemas.openxmlformats.org/drawingml/2006/main">
              <a:ext uri="{FF2B5EF4-FFF2-40B4-BE49-F238E27FC236}">
                <a16:creationId xmlns:a16="http://schemas.microsoft.com/office/drawing/2014/main" id="{18A77C6F-4227-4BBC-8C98-6085F01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分批导入文件，核对数量、目录结构与访问权限。</a:t>
            </a:r>
          </a:p>
        </p:txBody>
      </p:sp>
      <p:sp>
        <p:nvSpPr>
          <p:cNvPr id="7" name="20">
            <a:extLst xmlns:a="http://schemas.openxmlformats.org/drawingml/2006/main">
              <a:ext uri="{FF2B5EF4-FFF2-40B4-BE49-F238E27FC236}">
                <a16:creationId xmlns:a16="http://schemas.microsoft.com/office/drawing/2014/main" id="{6A74CC81-3CFC-4E17-9A98-F9EBEABA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77285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风险与应对">
            <a:extLst xmlns:a="http://schemas.openxmlformats.org/drawingml/2006/main">
              <a:ext uri="{FF2B5EF4-FFF2-40B4-BE49-F238E27FC236}">
                <a16:creationId xmlns:a16="http://schemas.microsoft.com/office/drawing/2014/main" id="{1AB3C562-B297-4389-837C-11B85191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风险与应对</a:t>
            </a:r>
          </a:p>
        </p:txBody>
      </p:sp>
      <p:sp>
        <p:nvSpPr>
          <p:cNvPr id="2" name="提前处理格式与使用习惯差异">
            <a:extLst xmlns:a="http://schemas.openxmlformats.org/drawingml/2006/main">
              <a:ext uri="{FF2B5EF4-FFF2-40B4-BE49-F238E27FC236}">
                <a16:creationId xmlns:a16="http://schemas.microsoft.com/office/drawing/2014/main" id="{02792CD2-D473-401B-9A34-8ED8C49E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提前处理格式与使用习惯差异</a:t>
            </a:r>
          </a:p>
        </p:txBody>
      </p:sp>
      <p:sp>
        <p:nvSpPr>
          <p:cNvPr id="3" name="格式兼容风险">
            <a:extLst xmlns:a="http://schemas.openxmlformats.org/drawingml/2006/main">
              <a:ext uri="{FF2B5EF4-FFF2-40B4-BE49-F238E27FC236}">
                <a16:creationId xmlns:a16="http://schemas.microsoft.com/office/drawing/2014/main" id="{9E9CDD7E-9B45-4C36-AEEF-36C8F92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格式兼容风险</a:t>
            </a:r>
          </a:p>
        </p:txBody>
      </p:sp>
      <p:sp>
        <p:nvSpPr>
          <p:cNvPr id="4" name="复杂旧文件可能显示不同，先测试代表性样本。">
            <a:extLst xmlns:a="http://schemas.openxmlformats.org/drawingml/2006/main">
              <a:ext uri="{FF2B5EF4-FFF2-40B4-BE49-F238E27FC236}">
                <a16:creationId xmlns:a16="http://schemas.microsoft.com/office/drawing/2014/main" id="{EB727DCC-0593-4568-BBA0-4FF8B03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复杂旧文件可能显示不同，先测试代表性样本。</a:t>
            </a:r>
          </a:p>
        </p:txBody>
      </p:sp>
      <p:sp>
        <p:nvSpPr>
          <p:cNvPr id="5" name="采用速度风险">
            <a:extLst xmlns:a="http://schemas.openxmlformats.org/drawingml/2006/main">
              <a:ext uri="{FF2B5EF4-FFF2-40B4-BE49-F238E27FC236}">
                <a16:creationId xmlns:a16="http://schemas.microsoft.com/office/drawing/2014/main" id="{C1D39728-8385-4354-B4F5-C1EFF14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采用速度风险</a:t>
            </a:r>
          </a:p>
        </p:txBody>
      </p:sp>
      <p:sp>
        <p:nvSpPr>
          <p:cNvPr id="6" name="成员可能继续发附件，由负责人带头使用统一链接。">
            <a:extLst xmlns:a="http://schemas.openxmlformats.org/drawingml/2006/main">
              <a:ext uri="{FF2B5EF4-FFF2-40B4-BE49-F238E27FC236}">
                <a16:creationId xmlns:a16="http://schemas.microsoft.com/office/drawing/2014/main" id="{A6DAF005-B654-4097-A79D-7C3CDCE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成员可能继续发附件，由负责人带头使用统一链接。</a:t>
            </a:r>
          </a:p>
        </p:txBody>
      </p:sp>
      <p:sp>
        <p:nvSpPr>
          <p:cNvPr id="7" name="21">
            <a:extLst xmlns:a="http://schemas.openxmlformats.org/drawingml/2006/main">
              <a:ext uri="{FF2B5EF4-FFF2-40B4-BE49-F238E27FC236}">
                <a16:creationId xmlns:a16="http://schemas.microsoft.com/office/drawing/2014/main" id="{7A2759B8-BF72-4A2B-8572-7B883D8C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8005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商业目标">
            <a:extLst xmlns:a="http://schemas.openxmlformats.org/drawingml/2006/main">
              <a:ext uri="{FF2B5EF4-FFF2-40B4-BE49-F238E27FC236}">
                <a16:creationId xmlns:a16="http://schemas.microsoft.com/office/drawing/2014/main" id="{3EB8D0EF-1B03-4170-8651-655DE0C3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商业目标</a:t>
            </a:r>
          </a:p>
        </p:txBody>
      </p:sp>
      <p:sp>
        <p:nvSpPr>
          <p:cNvPr id="2" name="首个季度验证付费意愿">
            <a:extLst xmlns:a="http://schemas.openxmlformats.org/drawingml/2006/main">
              <a:ext uri="{FF2B5EF4-FFF2-40B4-BE49-F238E27FC236}">
                <a16:creationId xmlns:a16="http://schemas.microsoft.com/office/drawing/2014/main" id="{E11A047C-5998-497D-ACA8-A2C7F3DC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首个季度验证付费意愿</a:t>
            </a:r>
          </a:p>
        </p:txBody>
      </p:sp>
      <p:sp>
        <p:nvSpPr>
          <p:cNvPr id="3" name="试用目标">
            <a:extLst xmlns:a="http://schemas.openxmlformats.org/drawingml/2006/main">
              <a:ext uri="{FF2B5EF4-FFF2-40B4-BE49-F238E27FC236}">
                <a16:creationId xmlns:a16="http://schemas.microsoft.com/office/drawing/2014/main" id="{7EFE414B-5CBB-4F54-99D3-0A96F6B8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试用目标</a:t>
            </a:r>
          </a:p>
        </p:txBody>
      </p:sp>
      <p:sp>
        <p:nvSpPr>
          <p:cNvPr id="4" name="邀请 30 个团队进入试用，收集持续使用反馈。">
            <a:extLst xmlns:a="http://schemas.openxmlformats.org/drawingml/2006/main">
              <a:ext uri="{FF2B5EF4-FFF2-40B4-BE49-F238E27FC236}">
                <a16:creationId xmlns:a16="http://schemas.microsoft.com/office/drawing/2014/main" id="{C6A98B81-2CF4-432B-870F-BF007F85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邀请 30 个团队进入试用，收集持续使用反馈。</a:t>
            </a:r>
          </a:p>
        </p:txBody>
      </p:sp>
      <p:sp>
        <p:nvSpPr>
          <p:cNvPr id="5" name="转化目标">
            <a:extLst xmlns:a="http://schemas.openxmlformats.org/drawingml/2006/main">
              <a:ext uri="{FF2B5EF4-FFF2-40B4-BE49-F238E27FC236}">
                <a16:creationId xmlns:a16="http://schemas.microsoft.com/office/drawing/2014/main" id="{B1E51BFF-5A09-4EF3-BFBC-A82772E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转化目标</a:t>
            </a:r>
          </a:p>
        </p:txBody>
      </p:sp>
      <p:sp>
        <p:nvSpPr>
          <p:cNvPr id="6" name="争取 10 个团队付费，复盘未转化原因。">
            <a:extLst xmlns:a="http://schemas.openxmlformats.org/drawingml/2006/main">
              <a:ext uri="{FF2B5EF4-FFF2-40B4-BE49-F238E27FC236}">
                <a16:creationId xmlns:a16="http://schemas.microsoft.com/office/drawing/2014/main" id="{FB193398-25F6-4081-A01E-A3DC9DC5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争取 10 个团队付费，复盘未转化原因。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AE8E5A01-DF08-4D47-84C2-36622053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027009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团队分工">
            <a:extLst xmlns:a="http://schemas.openxmlformats.org/drawingml/2006/main">
              <a:ext uri="{FF2B5EF4-FFF2-40B4-BE49-F238E27FC236}">
                <a16:creationId xmlns:a16="http://schemas.microsoft.com/office/drawing/2014/main" id="{98A4BA2E-290B-45FB-83E3-A31FCA6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团队分工</a:t>
            </a:r>
          </a:p>
        </p:txBody>
      </p:sp>
      <p:sp>
        <p:nvSpPr>
          <p:cNvPr id="2" name="每项交付都有明确负责人">
            <a:extLst xmlns:a="http://schemas.openxmlformats.org/drawingml/2006/main">
              <a:ext uri="{FF2B5EF4-FFF2-40B4-BE49-F238E27FC236}">
                <a16:creationId xmlns:a16="http://schemas.microsoft.com/office/drawing/2014/main" id="{EE324367-B432-4031-9321-ED95BF95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65332"/>
                </a:solidFill>
                <a:latin typeface="Arial Unicode MS"/>
                <a:ea typeface="Arial Unicode MS"/>
                <a:cs typeface="Arial Unicode MS"/>
              </a:rPr>
              <a:t>每项交付都有明确负责人</a:t>
            </a:r>
          </a:p>
        </p:txBody>
      </p:sp>
      <p:sp>
        <p:nvSpPr>
          <p:cNvPr id="3" name="产品与工程">
            <a:extLst xmlns:a="http://schemas.openxmlformats.org/drawingml/2006/main">
              <a:ext uri="{FF2B5EF4-FFF2-40B4-BE49-F238E27FC236}">
                <a16:creationId xmlns:a16="http://schemas.microsoft.com/office/drawing/2014/main" id="{16000C35-EFD6-4B1A-AC07-75AD5B3C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产品与工程</a:t>
            </a:r>
          </a:p>
        </p:txBody>
      </p:sp>
      <p:sp>
        <p:nvSpPr>
          <p:cNvPr id="4" name="产品负责人确定范围，工程团队交付功能并修复缺陷。">
            <a:extLst xmlns:a="http://schemas.openxmlformats.org/drawingml/2006/main">
              <a:ext uri="{FF2B5EF4-FFF2-40B4-BE49-F238E27FC236}">
                <a16:creationId xmlns:a16="http://schemas.microsoft.com/office/drawing/2014/main" id="{66A4EA5B-1529-4E27-8A9B-46C6636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产品负责人确定范围，工程团队交付功能并修复缺陷。</a:t>
            </a:r>
          </a:p>
        </p:txBody>
      </p:sp>
      <p:sp>
        <p:nvSpPr>
          <p:cNvPr id="5" name="客户成功">
            <a:extLst xmlns:a="http://schemas.openxmlformats.org/drawingml/2006/main">
              <a:ext uri="{FF2B5EF4-FFF2-40B4-BE49-F238E27FC236}">
                <a16:creationId xmlns:a16="http://schemas.microsoft.com/office/drawing/2014/main" id="{267CD7C9-FD91-40A0-A9F7-20DA2AB1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2B42"/>
                </a:solidFill>
                <a:latin typeface="Arial Unicode MS"/>
                <a:ea typeface="Arial Unicode MS"/>
                <a:cs typeface="Arial Unicode MS"/>
              </a:rPr>
              <a:t>客户成功</a:t>
            </a:r>
          </a:p>
        </p:txBody>
      </p:sp>
      <p:sp>
        <p:nvSpPr>
          <p:cNvPr id="6" name="协助管理员上线，跟踪培训和验收进度。">
            <a:extLst xmlns:a="http://schemas.openxmlformats.org/drawingml/2006/main">
              <a:ext uri="{FF2B5EF4-FFF2-40B4-BE49-F238E27FC236}">
                <a16:creationId xmlns:a16="http://schemas.microsoft.com/office/drawing/2014/main" id="{5B3AA087-521D-4E3F-A0CB-9D8B6678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10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协助管理员上线，跟踪培训和验收进度。</a:t>
            </a:r>
          </a:p>
        </p:txBody>
      </p:sp>
      <p:sp>
        <p:nvSpPr>
          <p:cNvPr id="7" name="23">
            <a:extLst xmlns:a="http://schemas.openxmlformats.org/drawingml/2006/main">
              <a:ext uri="{FF2B5EF4-FFF2-40B4-BE49-F238E27FC236}">
                <a16:creationId xmlns:a16="http://schemas.microsoft.com/office/drawing/2014/main" id="{8D2FF01C-53EC-4944-B802-3817BF5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474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244172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82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试用邀请">
            <a:extLst xmlns:a="http://schemas.openxmlformats.org/drawingml/2006/main">
              <a:ext uri="{FF2B5EF4-FFF2-40B4-BE49-F238E27FC236}">
                <a16:creationId xmlns:a16="http://schemas.microsoft.com/office/drawing/2014/main" id="{A99D1C19-20EC-4934-85BD-E9F1A5A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试用邀请</a:t>
            </a:r>
          </a:p>
        </p:txBody>
      </p:sp>
      <p:sp>
        <p:nvSpPr>
          <p:cNvPr id="2" name="从一个真实项目开始">
            <a:extLst xmlns:a="http://schemas.openxmlformats.org/drawingml/2006/main">
              <a:ext uri="{FF2B5EF4-FFF2-40B4-BE49-F238E27FC236}">
                <a16:creationId xmlns:a16="http://schemas.microsoft.com/office/drawing/2014/main" id="{E06856BF-97E5-4A88-8DD1-94EEB123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0">
                <a:solidFill>
                  <a:srgbClr val="D9B89B"/>
                </a:solidFill>
                <a:latin typeface="Arial Unicode MS"/>
                <a:ea typeface="Arial Unicode MS"/>
                <a:cs typeface="Arial Unicode MS"/>
              </a:rPr>
              <a:t>从一个真实项目开始</a:t>
            </a:r>
          </a:p>
        </p:txBody>
      </p:sp>
      <p:sp>
        <p:nvSpPr>
          <p:cNvPr id="3" name="选择一个团队、一份正在协作的提案&#10;试用两周后，决定是否继续扩大使">
            <a:extLst xmlns:a="http://schemas.openxmlformats.org/drawingml/2006/main">
              <a:ext uri="{FF2B5EF4-FFF2-40B4-BE49-F238E27FC236}">
                <a16:creationId xmlns:a16="http://schemas.microsoft.com/office/drawing/2014/main" id="{FF4BAB2C-EC22-49DE-8CE4-066AE30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选择一个团队、一份正在协作的提案</a:t>
            </a:r>
          </a:p>
          <a:p xmlns:a="http://schemas.openxmlformats.org/drawingml/2006/main">
            <a:pPr>
              <a:defRPr sz="22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试用两周后，决定是否继续扩大使用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57F60810-54C2-4AF5-872D-579592C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67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C7D2DE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49151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2026-09-20T19:35:03.3770000Z</dcterms:created>
  <dcterms:modified xsi:type="dcterms:W3CDTF">2026-09-20T19:35:03.3770000Z</dcterms:modified>
</coreProperties>
</file>